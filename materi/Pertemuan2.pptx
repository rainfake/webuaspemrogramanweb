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74" r:id="rId11"/>
    <p:sldId id="275" r:id="rId12"/>
    <p:sldId id="261" r:id="rId13"/>
    <p:sldId id="276" r:id="rId14"/>
    <p:sldId id="259" r:id="rId15"/>
    <p:sldId id="262" r:id="rId16"/>
    <p:sldId id="272" r:id="rId17"/>
    <p:sldId id="264" r:id="rId18"/>
    <p:sldId id="265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1050" y="-3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xmlns="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xmlns="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:a16="http://schemas.microsoft.com/office/drawing/2014/main" xmlns="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49324" y="3498930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  <p:sp>
        <p:nvSpPr>
          <p:cNvPr id="4" name="Rectangle 3"/>
          <p:cNvSpPr/>
          <p:nvPr/>
        </p:nvSpPr>
        <p:spPr>
          <a:xfrm>
            <a:off x="3198600" y="2614138"/>
            <a:ext cx="543129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BASIC TAG HTML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771" y="487301"/>
            <a:ext cx="6423553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400">
                <a:latin typeface="Adobe Gothic Std B" pitchFamily="34" charset="-128"/>
                <a:ea typeface="Adobe Gothic Std B" pitchFamily="34" charset="-128"/>
              </a:defRPr>
            </a:lvl1pPr>
          </a:lstStyle>
          <a:p>
            <a:r>
              <a:rPr lang="id-ID" sz="3600" dirty="0" smtClean="0"/>
              <a:t>TAG DASAR STRUKTUR HTML </a:t>
            </a:r>
            <a:endParaRPr lang="id-ID" sz="3600" dirty="0"/>
          </a:p>
        </p:txBody>
      </p:sp>
      <p:sp>
        <p:nvSpPr>
          <p:cNvPr id="3" name="Rectangle 2"/>
          <p:cNvSpPr/>
          <p:nvPr/>
        </p:nvSpPr>
        <p:spPr>
          <a:xfrm>
            <a:off x="478970" y="1302995"/>
            <a:ext cx="11038115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Tag  atau perintah  dalam HTML menggunakan perintah yang berpasangan</a:t>
            </a:r>
            <a:r>
              <a:rPr lang="id-ID" dirty="0" smtClean="0"/>
              <a:t>, ditandai </a:t>
            </a:r>
            <a:r>
              <a:rPr lang="id-ID" dirty="0"/>
              <a:t>dengan &lt;..&gt; dan diakhiri &lt;/..&gt;.  Bentuk umum penulisan Tag diawali </a:t>
            </a:r>
            <a:r>
              <a:rPr lang="id-ID" dirty="0" smtClean="0"/>
              <a:t>&lt;</a:t>
            </a:r>
            <a:r>
              <a:rPr lang="id-ID" dirty="0"/>
              <a:t>nama_elemen&gt; dan bentuk umum tag diakhiri &lt;/nama_elemen</a:t>
            </a:r>
            <a:r>
              <a:rPr lang="id-ID" dirty="0" smtClean="0"/>
              <a:t>&gt;.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691242" y="2354054"/>
            <a:ext cx="104720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a. Tag berpasangan</a:t>
            </a:r>
          </a:p>
          <a:p>
            <a:r>
              <a:rPr lang="nn-NO" dirty="0"/>
              <a:t>Format : &lt;nama elemen&gt; teks &lt;/nama elemen&gt; </a:t>
            </a:r>
            <a:endParaRPr lang="id-ID" dirty="0" smtClean="0"/>
          </a:p>
          <a:p>
            <a:endParaRPr lang="nn-NO" dirty="0"/>
          </a:p>
          <a:p>
            <a:r>
              <a:rPr lang="id-ID" dirty="0"/>
              <a:t>b. Tag tunggal</a:t>
            </a:r>
          </a:p>
          <a:p>
            <a:r>
              <a:rPr lang="id-ID" dirty="0"/>
              <a:t>Format : &lt;nama elemen&gt; </a:t>
            </a:r>
            <a:endParaRPr lang="id-ID" dirty="0" smtClean="0"/>
          </a:p>
          <a:p>
            <a:endParaRPr lang="id-ID" dirty="0"/>
          </a:p>
          <a:p>
            <a:r>
              <a:rPr lang="id-ID" dirty="0"/>
              <a:t>c. Tag dengan attribut</a:t>
            </a:r>
          </a:p>
          <a:p>
            <a:r>
              <a:rPr lang="id-ID" dirty="0"/>
              <a:t>Format : &lt;nama elemen attribut1 = nilai1  attribut2 = nilai 2....&gt; teks &lt;/</a:t>
            </a:r>
            <a:r>
              <a:rPr lang="id-ID" dirty="0" smtClean="0"/>
              <a:t>nama elemen</a:t>
            </a:r>
            <a:r>
              <a:rPr lang="id-ID" dirty="0"/>
              <a:t>&gt;</a:t>
            </a:r>
          </a:p>
          <a:p>
            <a:r>
              <a:rPr lang="id-ID" dirty="0"/>
              <a:t>Attribut : property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2771" y="487301"/>
            <a:ext cx="1402948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400">
                <a:latin typeface="Adobe Gothic Std B" pitchFamily="34" charset="-128"/>
                <a:ea typeface="Adobe Gothic Std B" pitchFamily="34" charset="-128"/>
              </a:defRPr>
            </a:lvl1pPr>
          </a:lstStyle>
          <a:p>
            <a:r>
              <a:rPr lang="id-ID" sz="3600" dirty="0" smtClean="0"/>
              <a:t>Head </a:t>
            </a:r>
            <a:endParaRPr lang="id-ID" sz="3600" dirty="0"/>
          </a:p>
        </p:txBody>
      </p:sp>
      <p:sp>
        <p:nvSpPr>
          <p:cNvPr id="4" name="Rectangle 3"/>
          <p:cNvSpPr/>
          <p:nvPr/>
        </p:nvSpPr>
        <p:spPr>
          <a:xfrm>
            <a:off x="489856" y="1213008"/>
            <a:ext cx="11244943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i="1" dirty="0"/>
              <a:t>Head merupakan bagian awal dari struktur HTML.  Penggunaan </a:t>
            </a:r>
            <a:r>
              <a:rPr lang="id-ID" i="1" dirty="0" smtClean="0"/>
              <a:t>Head </a:t>
            </a:r>
            <a:r>
              <a:rPr lang="id-ID" dirty="0" smtClean="0"/>
              <a:t>bersifat </a:t>
            </a:r>
            <a:r>
              <a:rPr lang="id-ID" dirty="0"/>
              <a:t>optional dalam HTML, namun penggunaan </a:t>
            </a:r>
            <a:r>
              <a:rPr lang="id-ID" i="1" dirty="0"/>
              <a:t>Head yang benar </a:t>
            </a:r>
            <a:r>
              <a:rPr lang="id-ID" i="1" dirty="0" smtClean="0"/>
              <a:t>dapat </a:t>
            </a:r>
            <a:r>
              <a:rPr lang="id-ID" dirty="0" smtClean="0"/>
              <a:t>meningkatkan </a:t>
            </a:r>
            <a:r>
              <a:rPr lang="id-ID" dirty="0"/>
              <a:t>kinerja dokumen </a:t>
            </a:r>
            <a:r>
              <a:rPr lang="id-ID" dirty="0" smtClean="0"/>
              <a:t>HTML. </a:t>
            </a:r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500746" y="2374638"/>
            <a:ext cx="800100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Perintah </a:t>
            </a:r>
            <a:r>
              <a:rPr lang="id-ID" dirty="0" smtClean="0"/>
              <a:t>yang dapat digunakan dalam </a:t>
            </a:r>
            <a:r>
              <a:rPr lang="id-ID" dirty="0"/>
              <a:t>Head </a:t>
            </a:r>
            <a:r>
              <a:rPr lang="id-ID" dirty="0" smtClean="0"/>
              <a:t>:</a:t>
            </a:r>
            <a:r>
              <a:rPr lang="id-ID" i="1" dirty="0" smtClean="0"/>
              <a:t> </a:t>
            </a:r>
            <a:endParaRPr lang="id-ID" i="1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Menampilkan </a:t>
            </a:r>
            <a:r>
              <a:rPr lang="id-ID" dirty="0"/>
              <a:t>title pada halaman browser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Menghubungkan </a:t>
            </a:r>
            <a:r>
              <a:rPr lang="id-ID" dirty="0"/>
              <a:t>antar dokumen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pt-BR" dirty="0" smtClean="0"/>
              <a:t>Menginformasikan </a:t>
            </a:r>
            <a:r>
              <a:rPr lang="pt-BR" dirty="0"/>
              <a:t>kunci pencarian pada browser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Mengatur </a:t>
            </a:r>
            <a:r>
              <a:rPr lang="id-ID" dirty="0"/>
              <a:t>tampilan halaman web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2572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89856" y="1384556"/>
            <a:ext cx="1133203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Elemen</a:t>
            </a:r>
            <a:r>
              <a:rPr lang="en-US" dirty="0" smtClean="0"/>
              <a:t> </a:t>
            </a:r>
            <a:r>
              <a:rPr lang="en-US" dirty="0" err="1"/>
              <a:t>bagian</a:t>
            </a:r>
            <a:r>
              <a:rPr lang="en-US" dirty="0"/>
              <a:t> head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: </a:t>
            </a:r>
          </a:p>
          <a:p>
            <a:pPr>
              <a:lnSpc>
                <a:spcPct val="150000"/>
              </a:lnSpc>
            </a:pPr>
            <a:r>
              <a:rPr lang="id-ID" dirty="0"/>
              <a:t>a. Tag  &lt;TITLE</a:t>
            </a:r>
            <a:r>
              <a:rPr lang="id-ID" dirty="0" smtClean="0"/>
              <a:t>&gt;, </a:t>
            </a:r>
            <a:r>
              <a:rPr lang="id-ID" dirty="0"/>
              <a:t>menampilkan title (judul) pada halaman browser</a:t>
            </a:r>
            <a:r>
              <a:rPr lang="id-ID" dirty="0" smtClean="0"/>
              <a:t>. </a:t>
            </a:r>
            <a:r>
              <a:rPr lang="en-US" dirty="0" err="1" smtClean="0"/>
              <a:t>Bentuk</a:t>
            </a:r>
            <a:r>
              <a:rPr lang="en-US" dirty="0" smtClean="0"/>
              <a:t> </a:t>
            </a:r>
            <a:r>
              <a:rPr lang="en-US" dirty="0" err="1"/>
              <a:t>umumnya</a:t>
            </a:r>
            <a:r>
              <a:rPr lang="en-US" dirty="0"/>
              <a:t> : &lt;TITLE&gt; </a:t>
            </a:r>
            <a:r>
              <a:rPr lang="en-US" dirty="0" err="1"/>
              <a:t>Judul</a:t>
            </a:r>
            <a:r>
              <a:rPr lang="en-US" dirty="0"/>
              <a:t> &lt;/TITLE&gt; </a:t>
            </a:r>
            <a:endParaRPr lang="id-ID" dirty="0" smtClean="0"/>
          </a:p>
          <a:p>
            <a:pPr>
              <a:lnSpc>
                <a:spcPct val="150000"/>
              </a:lnSpc>
            </a:pPr>
            <a:r>
              <a:rPr lang="id-ID" dirty="0" smtClean="0"/>
              <a:t>b</a:t>
            </a:r>
            <a:r>
              <a:rPr lang="id-ID" dirty="0"/>
              <a:t>. Tag &lt;BASE&gt;,  menentukan basis URL sebuah </a:t>
            </a:r>
            <a:r>
              <a:rPr lang="id-ID" dirty="0" smtClean="0"/>
              <a:t>dokumen, contoh </a:t>
            </a:r>
            <a:r>
              <a:rPr lang="id-ID" dirty="0"/>
              <a:t>: &lt;BASE HREF=”//www.alamat.com/direktori”&gt; </a:t>
            </a:r>
          </a:p>
          <a:p>
            <a:pPr>
              <a:lnSpc>
                <a:spcPct val="150000"/>
              </a:lnSpc>
            </a:pPr>
            <a:r>
              <a:rPr lang="sv-SE" dirty="0"/>
              <a:t>c. Tag &lt;LINK&gt; :  menghubungkan antar dokumen HTML.</a:t>
            </a:r>
          </a:p>
          <a:p>
            <a:pPr>
              <a:lnSpc>
                <a:spcPct val="150000"/>
              </a:lnSpc>
            </a:pPr>
            <a:r>
              <a:rPr lang="id-ID" dirty="0"/>
              <a:t>d. Tag &lt;META&gt; : menginformasikan browser terkait keyword untuk search engine</a:t>
            </a:r>
            <a:r>
              <a:rPr lang="id-ID" dirty="0" smtClean="0"/>
              <a:t>, menentukan </a:t>
            </a:r>
            <a:r>
              <a:rPr lang="id-ID" dirty="0"/>
              <a:t>diskripsi halaman, penulis dokumen, terakhir diumbah dan </a:t>
            </a:r>
            <a:r>
              <a:rPr lang="id-ID" dirty="0" smtClean="0"/>
              <a:t>meta data </a:t>
            </a:r>
            <a:r>
              <a:rPr lang="id-ID" dirty="0"/>
              <a:t>lainnya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771" y="487301"/>
            <a:ext cx="5729454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400">
                <a:latin typeface="Adobe Gothic Std B" pitchFamily="34" charset="-128"/>
                <a:ea typeface="Adobe Gothic Std B" pitchFamily="34" charset="-128"/>
              </a:defRPr>
            </a:lvl1pPr>
          </a:lstStyle>
          <a:p>
            <a:r>
              <a:rPr lang="id-ID" sz="3600" dirty="0" smtClean="0"/>
              <a:t>ELEMEN pada Head HTML </a:t>
            </a:r>
            <a:endParaRPr lang="id-ID" sz="3600" dirty="0"/>
          </a:p>
        </p:txBody>
      </p:sp>
    </p:spTree>
    <p:extLst>
      <p:ext uri="{BB962C8B-B14F-4D97-AF65-F5344CB8AC3E}">
        <p14:creationId xmlns:p14="http://schemas.microsoft.com/office/powerpoint/2010/main" val="170008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771" y="748565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400">
                <a:latin typeface="Adobe Gothic Std B" pitchFamily="34" charset="-128"/>
                <a:ea typeface="Adobe Gothic Std B" pitchFamily="34" charset="-128"/>
              </a:defRPr>
            </a:lvl1pPr>
          </a:lstStyle>
          <a:p>
            <a:r>
              <a:rPr lang="id-ID" sz="3600" dirty="0" smtClean="0"/>
              <a:t>Metatag</a:t>
            </a:r>
            <a:endParaRPr lang="id-ID" sz="3600" dirty="0"/>
          </a:p>
        </p:txBody>
      </p:sp>
      <p:sp>
        <p:nvSpPr>
          <p:cNvPr id="3" name="Rectangle 2"/>
          <p:cNvSpPr/>
          <p:nvPr/>
        </p:nvSpPr>
        <p:spPr>
          <a:xfrm>
            <a:off x="598438" y="1255877"/>
            <a:ext cx="10704562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/>
              <a:t>Meta </a:t>
            </a:r>
            <a:r>
              <a:rPr lang="id-ID" dirty="0" smtClean="0"/>
              <a:t>description, </a:t>
            </a:r>
          </a:p>
          <a:p>
            <a:pPr algn="just">
              <a:lnSpc>
                <a:spcPct val="150000"/>
              </a:lnSpc>
            </a:pPr>
            <a:r>
              <a:rPr lang="id-ID" dirty="0" smtClean="0"/>
              <a:t>a</a:t>
            </a:r>
            <a:r>
              <a:rPr lang="fi-FI" dirty="0" smtClean="0"/>
              <a:t>kan </a:t>
            </a:r>
            <a:r>
              <a:rPr lang="fi-FI" dirty="0"/>
              <a:t>memberikan ilustrasi secara keseluruhan terkait </a:t>
            </a:r>
            <a:r>
              <a:rPr lang="fi-FI" dirty="0" smtClean="0"/>
              <a:t>konten</a:t>
            </a:r>
            <a:r>
              <a:rPr lang="id-ID" dirty="0" smtClean="0"/>
              <a:t> dari </a:t>
            </a:r>
            <a:r>
              <a:rPr lang="id-ID" dirty="0"/>
              <a:t>halaman web.  Maksimal panjang teks direkomendasikan tidak melebihi </a:t>
            </a:r>
            <a:r>
              <a:rPr lang="id-ID" dirty="0" smtClean="0"/>
              <a:t>dari 200 </a:t>
            </a:r>
            <a:r>
              <a:rPr lang="id-ID" dirty="0"/>
              <a:t>karakter, sebaiknya kalimat yang merupakan deskripsi ditetakkan pada awal </a:t>
            </a:r>
            <a:r>
              <a:rPr lang="id-ID" dirty="0" smtClean="0"/>
              <a:t>halaman </a:t>
            </a:r>
            <a:r>
              <a:rPr lang="id-ID" dirty="0"/>
              <a:t>web.</a:t>
            </a:r>
            <a:endParaRPr lang="id-ID" dirty="0" smtClean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Meta </a:t>
            </a:r>
            <a:r>
              <a:rPr lang="id-ID" dirty="0"/>
              <a:t>tag </a:t>
            </a:r>
            <a:r>
              <a:rPr lang="id-ID" dirty="0" smtClean="0"/>
              <a:t>keyword </a:t>
            </a:r>
          </a:p>
          <a:p>
            <a:pPr algn="just">
              <a:lnSpc>
                <a:spcPct val="150000"/>
              </a:lnSpc>
            </a:pPr>
            <a:r>
              <a:rPr lang="id-ID" dirty="0" smtClean="0"/>
              <a:t>merupakan </a:t>
            </a:r>
            <a:r>
              <a:rPr lang="id-ID" dirty="0"/>
              <a:t>meta yang sangat penting, untuk </a:t>
            </a:r>
            <a:r>
              <a:rPr lang="id-ID" dirty="0" smtClean="0"/>
              <a:t>menentukan keyword </a:t>
            </a:r>
            <a:r>
              <a:rPr lang="id-ID" dirty="0"/>
              <a:t>apa yang akan digunakan untuk menemukan suatu halaman website.</a:t>
            </a:r>
            <a:endParaRPr lang="id-ID" dirty="0" smtClean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Meta </a:t>
            </a:r>
            <a:r>
              <a:rPr lang="id-ID" dirty="0"/>
              <a:t>tag robots </a:t>
            </a:r>
            <a:endParaRPr lang="id-ID" dirty="0" smtClean="0"/>
          </a:p>
          <a:p>
            <a:pPr algn="just">
              <a:lnSpc>
                <a:spcPct val="150000"/>
              </a:lnSpc>
            </a:pPr>
            <a:r>
              <a:rPr lang="id-ID" dirty="0" smtClean="0"/>
              <a:t>d</a:t>
            </a:r>
            <a:r>
              <a:rPr lang="it-IT" dirty="0" smtClean="0"/>
              <a:t>igunakan </a:t>
            </a:r>
            <a:r>
              <a:rPr lang="it-IT" dirty="0"/>
              <a:t>untuk mencari halaman web yang dapat di </a:t>
            </a:r>
            <a:r>
              <a:rPr lang="it-IT" dirty="0" smtClean="0"/>
              <a:t>index</a:t>
            </a:r>
            <a:r>
              <a:rPr lang="id-ID" dirty="0" smtClean="0"/>
              <a:t> dan </a:t>
            </a:r>
            <a:r>
              <a:rPr lang="id-ID" dirty="0"/>
              <a:t>tidak oleh spider.  Untuk halaman web yang menggunakan frame </a:t>
            </a:r>
            <a:r>
              <a:rPr lang="id-ID" dirty="0" smtClean="0"/>
              <a:t>sebagai navigasi </a:t>
            </a:r>
            <a:r>
              <a:rPr lang="id-ID" dirty="0"/>
              <a:t>tag ini sangat berguna, karena menu dalam frame tidak mungkin </a:t>
            </a:r>
            <a:r>
              <a:rPr lang="id-ID" dirty="0" smtClean="0"/>
              <a:t>ingin ditampilkan</a:t>
            </a:r>
            <a:r>
              <a:rPr lang="id-ID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5212" y="821737"/>
            <a:ext cx="15071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dirty="0">
                <a:latin typeface="Adobe Gothic Std B" pitchFamily="34" charset="-128"/>
                <a:ea typeface="Adobe Gothic Std B" pitchFamily="34" charset="-128"/>
              </a:rPr>
              <a:t>BODY </a:t>
            </a:r>
            <a:endParaRPr lang="id-ID" sz="3600" dirty="0"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9100" y="1622336"/>
            <a:ext cx="11188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dirty="0"/>
              <a:t>Bagian body digunakan untuk menyimpan informasi atau data  yang </a:t>
            </a:r>
            <a:r>
              <a:rPr lang="id-ID" dirty="0" smtClean="0"/>
              <a:t>akan </a:t>
            </a:r>
            <a:r>
              <a:rPr lang="de-DE" dirty="0" err="1" smtClean="0"/>
              <a:t>dipublish</a:t>
            </a:r>
            <a:r>
              <a:rPr lang="de-DE" dirty="0" smtClean="0"/>
              <a:t> </a:t>
            </a:r>
            <a:r>
              <a:rPr lang="de-DE" dirty="0" err="1"/>
              <a:t>pada</a:t>
            </a:r>
            <a:r>
              <a:rPr lang="de-DE" dirty="0"/>
              <a:t> </a:t>
            </a:r>
            <a:r>
              <a:rPr lang="de-DE" dirty="0" err="1"/>
              <a:t>halaman</a:t>
            </a:r>
            <a:r>
              <a:rPr lang="de-DE" dirty="0"/>
              <a:t> </a:t>
            </a:r>
            <a:r>
              <a:rPr lang="de-DE" dirty="0" err="1"/>
              <a:t>browser</a:t>
            </a:r>
            <a:r>
              <a:rPr lang="de-DE" dirty="0"/>
              <a:t> </a:t>
            </a:r>
            <a:r>
              <a:rPr lang="de-DE" dirty="0" err="1"/>
              <a:t>atau</a:t>
            </a:r>
            <a:r>
              <a:rPr lang="de-DE" dirty="0"/>
              <a:t>  web </a:t>
            </a:r>
            <a:r>
              <a:rPr lang="de-DE" dirty="0" err="1"/>
              <a:t>page</a:t>
            </a:r>
            <a:r>
              <a:rPr lang="de-DE" dirty="0"/>
              <a:t>. </a:t>
            </a:r>
            <a:endParaRPr lang="id-ID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586168"/>
            <a:ext cx="5689599" cy="1251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952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771" y="400213"/>
            <a:ext cx="5689378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400">
                <a:latin typeface="Adobe Gothic Std B" pitchFamily="34" charset="-128"/>
                <a:ea typeface="Adobe Gothic Std B" pitchFamily="34" charset="-128"/>
              </a:defRPr>
            </a:lvl1pPr>
          </a:lstStyle>
          <a:p>
            <a:r>
              <a:rPr lang="id-ID" sz="3600" dirty="0" smtClean="0"/>
              <a:t>FORMAT DOKUMEN HTML</a:t>
            </a:r>
            <a:endParaRPr lang="id-ID" sz="3600" dirty="0"/>
          </a:p>
        </p:txBody>
      </p:sp>
      <p:sp>
        <p:nvSpPr>
          <p:cNvPr id="3" name="Rectangle 2"/>
          <p:cNvSpPr/>
          <p:nvPr/>
        </p:nvSpPr>
        <p:spPr>
          <a:xfrm>
            <a:off x="475230" y="1405235"/>
            <a:ext cx="11424669" cy="378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id-ID" dirty="0"/>
              <a:t>&lt;br&gt;  pindah ke baris baru (seperti menekan tombol enter), perintah &lt;br&gt; </a:t>
            </a:r>
            <a:r>
              <a:rPr lang="id-ID" dirty="0" smtClean="0"/>
              <a:t>tanpa menggunakan penutup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id-ID" dirty="0"/>
              <a:t>&lt;p align=left|right|center|justify&gt;  mengatur paragraph menggunakan rata tulisan(rata kiri, rata kanan, rata tengah, atau rata kiri kanan), ditutup dengan &lt;/p&gt; </a:t>
            </a:r>
            <a:endParaRPr lang="id-ID" dirty="0" smtClean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id-ID" dirty="0"/>
              <a:t>&lt;hr align=left|right|center  width =…  size = …  color =  …  noshade = …&gt;  tanpa </a:t>
            </a:r>
            <a:r>
              <a:rPr lang="sv-SE" dirty="0"/>
              <a:t>penutup, digunakan untuk menampilkan garis horizontal. </a:t>
            </a:r>
            <a:endParaRPr lang="id-ID" dirty="0" smtClean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id-ID" dirty="0"/>
              <a:t>Width = panjang garis (%),  size = ketebalan,  color = warna,  noshade = abu-abu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id-ID" dirty="0"/>
              <a:t>&lt;pre&gt;  membuat tampilan sesuai dengan tampilan pada monitor (</a:t>
            </a:r>
            <a:r>
              <a:rPr lang="id-ID" i="1" dirty="0"/>
              <a:t>wysiwyg: what </a:t>
            </a:r>
            <a:r>
              <a:rPr lang="en-US" i="1" dirty="0"/>
              <a:t>you see is what you get).  </a:t>
            </a:r>
            <a:r>
              <a:rPr lang="en-US" i="1" dirty="0" err="1"/>
              <a:t>Penggunaan</a:t>
            </a:r>
            <a:r>
              <a:rPr lang="en-US" i="1" dirty="0"/>
              <a:t> tag &lt;pre&gt; </a:t>
            </a:r>
            <a:r>
              <a:rPr lang="en-US" i="1" dirty="0" err="1"/>
              <a:t>menghilangkan</a:t>
            </a:r>
            <a:r>
              <a:rPr lang="en-US" i="1" dirty="0"/>
              <a:t> tag &lt;</a:t>
            </a:r>
            <a:r>
              <a:rPr lang="en-US" i="1" dirty="0" err="1"/>
              <a:t>br</a:t>
            </a:r>
            <a:r>
              <a:rPr lang="en-US" i="1" dirty="0"/>
              <a:t>&gt; </a:t>
            </a:r>
            <a:r>
              <a:rPr lang="en-US" i="1" dirty="0" err="1"/>
              <a:t>dan</a:t>
            </a:r>
            <a:r>
              <a:rPr lang="id-ID" i="1" dirty="0"/>
              <a:t> </a:t>
            </a:r>
            <a:r>
              <a:rPr lang="id-ID" dirty="0"/>
              <a:t>perintah spasi (&amp;nbsp).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id-ID" dirty="0"/>
              <a:t>&lt;blockquote&gt; : membuat tampilan identasi (menjorok dalam) </a:t>
            </a:r>
            <a:r>
              <a:rPr lang="id-ID" dirty="0" smtClean="0"/>
              <a:t>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7400" y="832535"/>
            <a:ext cx="8369300" cy="5262979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id-ID" sz="1400" dirty="0"/>
              <a:t>&lt;html&gt;</a:t>
            </a:r>
          </a:p>
          <a:p>
            <a:r>
              <a:rPr lang="id-ID" sz="1400" dirty="0"/>
              <a:t>&lt;head</a:t>
            </a:r>
            <a:r>
              <a:rPr lang="id-ID" sz="1400" dirty="0" smtClean="0"/>
              <a:t>&gt;</a:t>
            </a:r>
          </a:p>
          <a:p>
            <a:r>
              <a:rPr lang="id-ID" sz="1400" dirty="0"/>
              <a:t>&lt;title&gt;Website Film Terkenal&lt;/title&gt;</a:t>
            </a:r>
          </a:p>
          <a:p>
            <a:r>
              <a:rPr lang="id-ID" sz="1400" dirty="0"/>
              <a:t>&lt;/head&gt;</a:t>
            </a:r>
          </a:p>
          <a:p>
            <a:r>
              <a:rPr lang="id-ID" sz="1400" dirty="0"/>
              <a:t>&lt;body&gt;</a:t>
            </a:r>
          </a:p>
          <a:p>
            <a:r>
              <a:rPr lang="id-ID" sz="1400" dirty="0"/>
              <a:t>Selamat datang pada website kumpulan film-film terkenal.  Pada website ini kami</a:t>
            </a:r>
          </a:p>
          <a:p>
            <a:r>
              <a:rPr lang="id-ID" sz="1400" dirty="0"/>
              <a:t>menginformasikan film Brilian David Lean :&lt;br&gt;</a:t>
            </a:r>
          </a:p>
          <a:p>
            <a:r>
              <a:rPr lang="id-ID" sz="1400" dirty="0"/>
              <a:t>Berikut beberapa film yang akan di </a:t>
            </a:r>
            <a:r>
              <a:rPr lang="id-ID" sz="1400" dirty="0" smtClean="0"/>
              <a:t>onlinekan</a:t>
            </a:r>
            <a:r>
              <a:rPr lang="en-US" sz="1400" dirty="0" smtClean="0"/>
              <a:t>soon</a:t>
            </a:r>
            <a:r>
              <a:rPr lang="en-US" sz="1400" dirty="0"/>
              <a:t>, a lot more will be online.</a:t>
            </a:r>
          </a:p>
          <a:p>
            <a:r>
              <a:rPr lang="en-US" sz="1400" dirty="0"/>
              <a:t>&lt;</a:t>
            </a:r>
            <a:r>
              <a:rPr lang="en-US" sz="1400" dirty="0" err="1"/>
              <a:t>hr</a:t>
            </a:r>
            <a:r>
              <a:rPr lang="en-US" sz="1400" dirty="0"/>
              <a:t> width=75% size=3 color="blue" align=left&gt;</a:t>
            </a:r>
          </a:p>
          <a:p>
            <a:r>
              <a:rPr lang="id-ID" sz="1400" dirty="0"/>
              <a:t>&lt;h1&gt;Produksi film Sam Spiegel&lt;/h1&gt;</a:t>
            </a:r>
          </a:p>
          <a:p>
            <a:r>
              <a:rPr lang="pt-BR" sz="1400" dirty="0"/>
              <a:t>&lt;h2&gt;Jembatan diatas sungan Kwai (1957)&lt;/h2&gt;</a:t>
            </a:r>
          </a:p>
          <a:p>
            <a:r>
              <a:rPr lang="id-ID" sz="1400" dirty="0"/>
              <a:t>&lt;p&gt;Film ini diproduksi oleh Sam Spiegel pertama dari film-film blockbuster Lean, </a:t>
            </a:r>
            <a:r>
              <a:rPr lang="id-ID" sz="1400" dirty="0" smtClean="0"/>
              <a:t>dan menampilkan </a:t>
            </a:r>
            <a:r>
              <a:rPr lang="id-ID" sz="1400" dirty="0"/>
              <a:t>Alec Guinness muda, William Holden, dan menampilkan </a:t>
            </a:r>
            <a:r>
              <a:rPr lang="id-ID" sz="1400" dirty="0" smtClean="0"/>
              <a:t>pertunjukan </a:t>
            </a:r>
            <a:r>
              <a:rPr lang="sv-SE" sz="1400" dirty="0" smtClean="0"/>
              <a:t>yang </a:t>
            </a:r>
            <a:r>
              <a:rPr lang="sv-SE" sz="1400" dirty="0"/>
              <a:t>sangat luar biasa dari Sessue Hayakawa.</a:t>
            </a:r>
          </a:p>
          <a:p>
            <a:r>
              <a:rPr lang="pt-BR" sz="1400" dirty="0"/>
              <a:t>&lt;h3&gt;Laura dari Arabia (1962)&lt;/h3&gt;</a:t>
            </a:r>
          </a:p>
          <a:p>
            <a:r>
              <a:rPr lang="id-ID" sz="1400" dirty="0"/>
              <a:t>Salah satu film favorit sepanjang masa. Film ini menggambarkan petualangan </a:t>
            </a:r>
            <a:r>
              <a:rPr lang="id-ID" sz="1400" dirty="0" smtClean="0"/>
              <a:t>yang dibintangi </a:t>
            </a:r>
            <a:r>
              <a:rPr lang="id-ID" sz="1400" dirty="0"/>
              <a:t>Peter O’Toole menjadikan Lean sebagai sutradara yang luar biasa </a:t>
            </a:r>
            <a:r>
              <a:rPr lang="id-ID" sz="1400" dirty="0" smtClean="0"/>
              <a:t>dalam skala </a:t>
            </a:r>
            <a:r>
              <a:rPr lang="id-ID" sz="1400" dirty="0"/>
              <a:t>besar</a:t>
            </a:r>
          </a:p>
          <a:p>
            <a:r>
              <a:rPr lang="id-ID" sz="1400" dirty="0"/>
              <a:t>&lt;hr&gt;</a:t>
            </a:r>
          </a:p>
          <a:p>
            <a:r>
              <a:rPr lang="id-ID" sz="1400" dirty="0"/>
              <a:t>&lt;h4&gt;Tahun-tahun yang akan datang&lt;/h4&gt;</a:t>
            </a:r>
          </a:p>
          <a:p>
            <a:r>
              <a:rPr lang="id-ID" sz="1400" dirty="0"/>
              <a:t>&lt;h5&gt;Dokter Shivago (1965)&lt;/h5&gt;</a:t>
            </a:r>
          </a:p>
          <a:p>
            <a:r>
              <a:rPr lang="id-ID" sz="1400" dirty="0"/>
              <a:t>&lt;h6&gt;Putri Riyan (1970)&lt;/h6&gt;</a:t>
            </a:r>
          </a:p>
          <a:p>
            <a:r>
              <a:rPr lang="id-ID" sz="1400" dirty="0"/>
              <a:t>&lt;hr&gt;</a:t>
            </a:r>
          </a:p>
          <a:p>
            <a:r>
              <a:rPr lang="fr-FR" sz="1400" dirty="0" err="1"/>
              <a:t>Informasi</a:t>
            </a:r>
            <a:r>
              <a:rPr lang="fr-FR" sz="1400" dirty="0"/>
              <a:t> </a:t>
            </a:r>
            <a:r>
              <a:rPr lang="fr-FR" sz="1400" dirty="0" err="1"/>
              <a:t>ini</a:t>
            </a:r>
            <a:r>
              <a:rPr lang="fr-FR" sz="1400" dirty="0"/>
              <a:t> </a:t>
            </a:r>
            <a:r>
              <a:rPr lang="fr-FR" sz="1400" dirty="0" err="1"/>
              <a:t>dikelolan</a:t>
            </a:r>
            <a:r>
              <a:rPr lang="fr-FR" sz="1400" dirty="0"/>
              <a:t> </a:t>
            </a:r>
            <a:r>
              <a:rPr lang="fr-FR" sz="1400" dirty="0" err="1"/>
              <a:t>oleh</a:t>
            </a:r>
            <a:r>
              <a:rPr lang="fr-FR" sz="1400" dirty="0"/>
              <a:t> </a:t>
            </a:r>
            <a:r>
              <a:rPr lang="fr-FR" sz="1400" dirty="0" err="1"/>
              <a:t>Admin</a:t>
            </a:r>
            <a:r>
              <a:rPr lang="fr-FR" sz="1400" dirty="0"/>
              <a:t> </a:t>
            </a:r>
            <a:r>
              <a:rPr lang="fr-FR" sz="1400" dirty="0" err="1"/>
              <a:t>Daves</a:t>
            </a:r>
            <a:r>
              <a:rPr lang="fr-FR" sz="1400" dirty="0"/>
              <a:t> </a:t>
            </a:r>
            <a:r>
              <a:rPr lang="fr-FR" sz="1400" dirty="0" err="1"/>
              <a:t>Taylors</a:t>
            </a:r>
            <a:endParaRPr lang="fr-FR" sz="1400" dirty="0"/>
          </a:p>
          <a:p>
            <a:r>
              <a:rPr lang="id-ID" sz="1400" dirty="0"/>
              <a:t>&lt;/body&gt;</a:t>
            </a:r>
          </a:p>
          <a:p>
            <a:r>
              <a:rPr lang="id-ID" sz="1400" dirty="0"/>
              <a:t>&lt;/html</a:t>
            </a:r>
            <a:r>
              <a:rPr lang="id-ID" sz="1400" dirty="0" smtClean="0"/>
              <a:t>&gt; </a:t>
            </a:r>
            <a:endParaRPr lang="id-ID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558800" y="330200"/>
            <a:ext cx="116332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dirty="0" smtClean="0"/>
              <a:t>LATIHAN 1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1038224"/>
            <a:ext cx="9199562" cy="5019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330200"/>
            <a:ext cx="58166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dirty="0" smtClean="0"/>
              <a:t>HASIL LATIHAN 1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8800" y="330200"/>
            <a:ext cx="116332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dirty="0" smtClean="0"/>
              <a:t>LATIHAN 2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1244600" y="1330742"/>
            <a:ext cx="9537700" cy="4616648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id-ID" sz="1400" dirty="0"/>
              <a:t>&lt;html&gt;</a:t>
            </a:r>
          </a:p>
          <a:p>
            <a:r>
              <a:rPr lang="id-ID" sz="1400" dirty="0"/>
              <a:t>&lt;head&gt;</a:t>
            </a:r>
          </a:p>
          <a:p>
            <a:r>
              <a:rPr lang="id-ID" sz="1400" dirty="0"/>
              <a:t>&lt;title&gt;Penggunaan Pre&lt;/title&gt;</a:t>
            </a:r>
          </a:p>
          <a:p>
            <a:r>
              <a:rPr lang="id-ID" sz="1400" dirty="0"/>
              <a:t>&lt;/head&gt;</a:t>
            </a:r>
          </a:p>
          <a:p>
            <a:r>
              <a:rPr lang="id-ID" sz="1400" dirty="0"/>
              <a:t>&lt;body bgcolor="cyan"&gt;</a:t>
            </a:r>
          </a:p>
          <a:p>
            <a:r>
              <a:rPr lang="id-ID" sz="1400" dirty="0"/>
              <a:t>&lt;h2&gt;Ini merupakan contoh penggunaan Heading 2&lt;/h2&gt;</a:t>
            </a:r>
          </a:p>
          <a:p>
            <a:r>
              <a:rPr lang="id-ID" sz="1400" dirty="0"/>
              <a:t>&lt;p&gt;Script untuk mengatur paragraph</a:t>
            </a:r>
          </a:p>
          <a:p>
            <a:r>
              <a:rPr lang="id-ID" sz="1400" dirty="0"/>
              <a:t>&lt;p&gt;Ini juga untuk membuat paragraph </a:t>
            </a:r>
          </a:p>
          <a:p>
            <a:r>
              <a:rPr lang="id-ID" sz="1400" dirty="0"/>
              <a:t>&lt;p align="left</a:t>
            </a:r>
            <a:r>
              <a:rPr lang="id-ID" sz="1400" dirty="0" smtClean="0"/>
              <a:t>"&gt; </a:t>
            </a:r>
            <a:r>
              <a:rPr lang="sv-SE" sz="1400" dirty="0" smtClean="0"/>
              <a:t>Paragraph </a:t>
            </a:r>
            <a:r>
              <a:rPr lang="sv-SE" sz="1400" dirty="0"/>
              <a:t>dengan Teks dan pengaturan rata tulisan  Align="left" maka </a:t>
            </a:r>
            <a:r>
              <a:rPr lang="sv-SE" sz="1400" dirty="0" smtClean="0"/>
              <a:t>akan</a:t>
            </a:r>
            <a:r>
              <a:rPr lang="id-ID" sz="1400" dirty="0" smtClean="0"/>
              <a:t> diratakan </a:t>
            </a:r>
            <a:r>
              <a:rPr lang="id-ID" sz="1400" dirty="0"/>
              <a:t>pada margin kiri.</a:t>
            </a:r>
          </a:p>
          <a:p>
            <a:r>
              <a:rPr lang="id-ID" sz="1400" dirty="0"/>
              <a:t>&lt;p align="center</a:t>
            </a:r>
            <a:r>
              <a:rPr lang="id-ID" sz="1400" dirty="0" smtClean="0"/>
              <a:t>"&gt; Tulisan </a:t>
            </a:r>
            <a:r>
              <a:rPr lang="id-ID" sz="1400" dirty="0"/>
              <a:t>dengan rata tengah Align="center" maka akan tampil ditengah. </a:t>
            </a:r>
            <a:endParaRPr lang="id-ID" sz="1400" dirty="0" smtClean="0"/>
          </a:p>
          <a:p>
            <a:r>
              <a:rPr lang="id-ID" sz="1400" dirty="0"/>
              <a:t>&lt;p align="right</a:t>
            </a:r>
            <a:r>
              <a:rPr lang="id-ID" sz="1400" dirty="0" smtClean="0"/>
              <a:t>"&gt; </a:t>
            </a:r>
            <a:r>
              <a:rPr lang="fi-FI" sz="1400" dirty="0" smtClean="0"/>
              <a:t>Tulisan </a:t>
            </a:r>
            <a:r>
              <a:rPr lang="fi-FI" sz="1400" dirty="0"/>
              <a:t>teks dengan rata kanan Align="right" , membuat tulisan menjadi rata kanan.</a:t>
            </a:r>
          </a:p>
          <a:p>
            <a:r>
              <a:rPr lang="id-ID" sz="1400" dirty="0"/>
              <a:t>&lt;pre</a:t>
            </a:r>
            <a:r>
              <a:rPr lang="id-ID" sz="1400" dirty="0" smtClean="0"/>
              <a:t>&gt; Perintah </a:t>
            </a:r>
            <a:r>
              <a:rPr lang="id-ID" sz="1400" dirty="0"/>
              <a:t>ini akan membuat tampilan menjadi sama dengan tampilan yang ada </a:t>
            </a:r>
            <a:r>
              <a:rPr lang="id-ID" sz="1400" dirty="0" smtClean="0"/>
              <a:t>pada editor </a:t>
            </a:r>
            <a:r>
              <a:rPr lang="id-ID" sz="1400" dirty="0"/>
              <a:t>baik enter dan spasinya.</a:t>
            </a:r>
          </a:p>
          <a:p>
            <a:r>
              <a:rPr lang="id-ID" sz="1400" dirty="0" smtClean="0"/>
              <a:t>Nama  </a:t>
            </a:r>
            <a:r>
              <a:rPr lang="id-ID" sz="1400" dirty="0"/>
              <a:t>Email</a:t>
            </a:r>
          </a:p>
          <a:p>
            <a:r>
              <a:rPr lang="id-ID" sz="1400" dirty="0"/>
              <a:t>=======================</a:t>
            </a:r>
          </a:p>
          <a:p>
            <a:r>
              <a:rPr lang="id-ID" sz="1400" dirty="0"/>
              <a:t>Andini andini@gmail.com</a:t>
            </a:r>
          </a:p>
          <a:p>
            <a:r>
              <a:rPr lang="id-ID" sz="1400" dirty="0"/>
              <a:t>Beni beni@yahoo.com</a:t>
            </a:r>
          </a:p>
          <a:p>
            <a:r>
              <a:rPr lang="id-ID" sz="1400" dirty="0"/>
              <a:t>Kania kania@yahoo.com</a:t>
            </a:r>
          </a:p>
          <a:p>
            <a:r>
              <a:rPr lang="id-ID" sz="1400" dirty="0"/>
              <a:t>Indra indra@gmail.com</a:t>
            </a:r>
          </a:p>
          <a:p>
            <a:r>
              <a:rPr lang="id-ID" sz="1400" dirty="0"/>
              <a:t>&lt;/pre&gt;</a:t>
            </a:r>
          </a:p>
          <a:p>
            <a:r>
              <a:rPr lang="id-ID" sz="1400" dirty="0"/>
              <a:t>&lt;/body&gt;</a:t>
            </a:r>
          </a:p>
          <a:p>
            <a:r>
              <a:rPr lang="id-ID" sz="1400" dirty="0"/>
              <a:t>&lt;/html&gt; </a:t>
            </a:r>
            <a:endParaRPr lang="id-ID" sz="1400" dirty="0"/>
          </a:p>
        </p:txBody>
      </p:sp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30200"/>
            <a:ext cx="58166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dirty="0" smtClean="0"/>
              <a:t>HASIL LATIHAN 2</a:t>
            </a:r>
            <a:endParaRPr lang="id-ID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0" b="41231"/>
          <a:stretch/>
        </p:blipFill>
        <p:spPr bwMode="auto">
          <a:xfrm>
            <a:off x="685800" y="1171576"/>
            <a:ext cx="10715625" cy="413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585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2936</TotalTime>
  <Words>850</Words>
  <Application>Microsoft Office PowerPoint</Application>
  <PresentationFormat>Custom</PresentationFormat>
  <Paragraphs>90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san</cp:lastModifiedBy>
  <cp:revision>36</cp:revision>
  <dcterms:created xsi:type="dcterms:W3CDTF">2021-08-16T10:58:02Z</dcterms:created>
  <dcterms:modified xsi:type="dcterms:W3CDTF">2021-08-28T02:54:51Z</dcterms:modified>
</cp:coreProperties>
</file>