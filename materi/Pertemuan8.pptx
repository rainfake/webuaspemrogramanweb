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slideLayouts/slideLayout5.xml" ContentType="application/vnd.openxmlformats-officedocument.presentationml.slideLayout+xml"/>
  <Override PartName="/ppt/theme/theme5.xml" ContentType="application/vnd.openxmlformats-officedocument.theme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6.xml" ContentType="application/vnd.openxmlformats-officedocument.theme+xml"/>
  <Override PartName="/ppt/slideLayouts/slideLayout13.xml" ContentType="application/vnd.openxmlformats-officedocument.presentationml.slideLayout+xml"/>
  <Override PartName="/ppt/theme/theme7.xml" ContentType="application/vnd.openxmlformats-officedocument.theme+xml"/>
  <Override PartName="/ppt/slideLayouts/slideLayout14.xml" ContentType="application/vnd.openxmlformats-officedocument.presentationml.slideLayout+xml"/>
  <Override PartName="/ppt/theme/theme8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4" r:id="rId1"/>
    <p:sldMasterId id="2147483701" r:id="rId2"/>
    <p:sldMasterId id="2147483692" r:id="rId3"/>
    <p:sldMasterId id="2147483691" r:id="rId4"/>
    <p:sldMasterId id="2147483690" r:id="rId5"/>
    <p:sldMasterId id="2147483648" r:id="rId6"/>
    <p:sldMasterId id="2147483693" r:id="rId7"/>
    <p:sldMasterId id="2147483689" r:id="rId8"/>
  </p:sldMasterIdLst>
  <p:sldIdLst>
    <p:sldId id="258" r:id="rId9"/>
    <p:sldId id="273" r:id="rId10"/>
    <p:sldId id="261" r:id="rId11"/>
    <p:sldId id="259" r:id="rId12"/>
    <p:sldId id="262" r:id="rId13"/>
    <p:sldId id="272" r:id="rId14"/>
    <p:sldId id="264" r:id="rId15"/>
    <p:sldId id="265" r:id="rId16"/>
    <p:sldId id="267" r:id="rId17"/>
    <p:sldId id="269" r:id="rId18"/>
    <p:sldId id="270" r:id="rId19"/>
    <p:sldId id="271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8" d="100"/>
          <a:sy n="88" d="100"/>
        </p:scale>
        <p:origin x="-570" y="-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3" Type="http://schemas.openxmlformats.org/officeDocument/2006/relationships/slideMaster" Target="slideMasters/slideMaster3.xml"/><Relationship Id="rId21" Type="http://schemas.openxmlformats.org/officeDocument/2006/relationships/presProps" Target="presProps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8.xml"/><Relationship Id="rId20" Type="http://schemas.openxmlformats.org/officeDocument/2006/relationships/slide" Target="slides/slide12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3.xml"/><Relationship Id="rId24" Type="http://schemas.openxmlformats.org/officeDocument/2006/relationships/tableStyles" Target="tableStyle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7.xml"/><Relationship Id="rId23" Type="http://schemas.openxmlformats.org/officeDocument/2006/relationships/theme" Target="theme/theme1.xml"/><Relationship Id="rId10" Type="http://schemas.openxmlformats.org/officeDocument/2006/relationships/slide" Target="slides/slide2.xml"/><Relationship Id="rId19" Type="http://schemas.openxmlformats.org/officeDocument/2006/relationships/slide" Target="slides/slide1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1.xml"/><Relationship Id="rId14" Type="http://schemas.openxmlformats.org/officeDocument/2006/relationships/slide" Target="slides/slide6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0EBA360-16FD-48D7-AA37-D01665392D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8820432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0EBA360-16FD-48D7-AA37-D01665392D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2588658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FD6A74D-1C8D-4400-A44B-18C61420D4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161360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DA4314F5-9B88-4A10-889F-F5ED679835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3866138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E49F2F78-41F6-4DBD-A49B-20619A8622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1135821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1">
            <a:extLst>
              <a:ext uri="{FF2B5EF4-FFF2-40B4-BE49-F238E27FC236}">
                <a16:creationId xmlns="" xmlns:a16="http://schemas.microsoft.com/office/drawing/2014/main" id="{198065A5-1218-4E69-9EF0-90C3C2E671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5134652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="" xmlns:a16="http://schemas.microsoft.com/office/drawing/2014/main" id="{F916FA04-1396-485D-A609-CD7E92522DD1}"/>
              </a:ext>
            </a:extLst>
          </p:cNvPr>
          <p:cNvCxnSpPr>
            <a:cxnSpLocks/>
          </p:cNvCxnSpPr>
          <p:nvPr userDrawn="1"/>
        </p:nvCxnSpPr>
        <p:spPr>
          <a:xfrm>
            <a:off x="0" y="683288"/>
            <a:ext cx="6189785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>
            <a:extLst>
              <a:ext uri="{FF2B5EF4-FFF2-40B4-BE49-F238E27FC236}">
                <a16:creationId xmlns="" xmlns:a16="http://schemas.microsoft.com/office/drawing/2014/main" id="{1FFC4A87-0CB1-45CE-9554-8F044AAEC6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5796771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="" xmlns:a16="http://schemas.microsoft.com/office/drawing/2014/main" id="{F916FA04-1396-485D-A609-CD7E92522DD1}"/>
              </a:ext>
            </a:extLst>
          </p:cNvPr>
          <p:cNvCxnSpPr>
            <a:cxnSpLocks/>
          </p:cNvCxnSpPr>
          <p:nvPr userDrawn="1"/>
        </p:nvCxnSpPr>
        <p:spPr>
          <a:xfrm>
            <a:off x="6002215" y="683288"/>
            <a:ext cx="6189785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F52A5D29-0C74-4DB5-80AC-205E2980DE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3470901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="" xmlns:a16="http://schemas.microsoft.com/office/drawing/2014/main" id="{2A08D90C-70B8-457C-95AE-141C49C3A3FB}"/>
              </a:ext>
            </a:extLst>
          </p:cNvPr>
          <p:cNvCxnSpPr>
            <a:cxnSpLocks/>
          </p:cNvCxnSpPr>
          <p:nvPr userDrawn="1"/>
        </p:nvCxnSpPr>
        <p:spPr>
          <a:xfrm>
            <a:off x="0" y="683288"/>
            <a:ext cx="12192000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itle 4">
            <a:extLst>
              <a:ext uri="{FF2B5EF4-FFF2-40B4-BE49-F238E27FC236}">
                <a16:creationId xmlns="" xmlns:a16="http://schemas.microsoft.com/office/drawing/2014/main" id="{ABE849F3-B6DF-4217-B464-9130928C9C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7321103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="" xmlns:a16="http://schemas.microsoft.com/office/drawing/2014/main" id="{33BEC2E1-0AD8-452E-87EC-4D9066322202}"/>
              </a:ext>
            </a:extLst>
          </p:cNvPr>
          <p:cNvSpPr/>
          <p:nvPr userDrawn="1"/>
        </p:nvSpPr>
        <p:spPr>
          <a:xfrm>
            <a:off x="0" y="0"/>
            <a:ext cx="12192000" cy="1085222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4" name="Title 3">
            <a:extLst>
              <a:ext uri="{FF2B5EF4-FFF2-40B4-BE49-F238E27FC236}">
                <a16:creationId xmlns="" xmlns:a16="http://schemas.microsoft.com/office/drawing/2014/main" id="{22CC0ADF-8FA4-4472-9031-72E465CB40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8976862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4EBE2D0A-6E5C-4A94-8EF1-D947C32EBE56}"/>
              </a:ext>
            </a:extLst>
          </p:cNvPr>
          <p:cNvSpPr/>
          <p:nvPr userDrawn="1"/>
        </p:nvSpPr>
        <p:spPr>
          <a:xfrm>
            <a:off x="0" y="80391"/>
            <a:ext cx="12192000" cy="633046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4" name="Title 3">
            <a:extLst>
              <a:ext uri="{FF2B5EF4-FFF2-40B4-BE49-F238E27FC236}">
                <a16:creationId xmlns="" xmlns:a16="http://schemas.microsoft.com/office/drawing/2014/main" id="{4898FCA4-6365-4601-85C8-B9BFB43B3C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8457647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6570B6C2-5A8A-40C2-AE98-493677E13A21}"/>
              </a:ext>
            </a:extLst>
          </p:cNvPr>
          <p:cNvSpPr/>
          <p:nvPr userDrawn="1"/>
        </p:nvSpPr>
        <p:spPr>
          <a:xfrm>
            <a:off x="0" y="60292"/>
            <a:ext cx="12192000" cy="45719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3" name="Title 2">
            <a:extLst>
              <a:ext uri="{FF2B5EF4-FFF2-40B4-BE49-F238E27FC236}">
                <a16:creationId xmlns="" xmlns:a16="http://schemas.microsoft.com/office/drawing/2014/main" id="{10892BB0-7181-4898-96B3-7ABD572DA6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962669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86C3B74E-CCD6-46A2-96AD-0288887844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51396385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C82CF78D-0AC0-4E71-8350-3BC2A8E430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4157850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pn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theme" Target="../theme/theme6.xml"/><Relationship Id="rId3" Type="http://schemas.openxmlformats.org/officeDocument/2006/relationships/slideLayout" Target="../slideLayouts/slideLayout8.xml"/><Relationship Id="rId7" Type="http://schemas.openxmlformats.org/officeDocument/2006/relationships/slideLayout" Target="../slideLayouts/slideLayout12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5" Type="http://schemas.openxmlformats.org/officeDocument/2006/relationships/slideLayout" Target="../slideLayouts/slideLayout10.xml"/><Relationship Id="rId10" Type="http://schemas.openxmlformats.org/officeDocument/2006/relationships/image" Target="../media/image8.png"/><Relationship Id="rId4" Type="http://schemas.openxmlformats.org/officeDocument/2006/relationships/slideLayout" Target="../slideLayouts/slideLayout9.xml"/><Relationship Id="rId9" Type="http://schemas.openxmlformats.org/officeDocument/2006/relationships/image" Target="../media/image7.png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.png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F6310508-6870-44FB-B67F-C3F1350DB66D}"/>
              </a:ext>
            </a:extLst>
          </p:cNvPr>
          <p:cNvSpPr/>
          <p:nvPr userDrawn="1"/>
        </p:nvSpPr>
        <p:spPr>
          <a:xfrm>
            <a:off x="0" y="1"/>
            <a:ext cx="12192000" cy="120446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 </a:t>
            </a:r>
            <a:endParaRPr lang="en-ID" sz="2000" dirty="0">
              <a:solidFill>
                <a:schemeClr val="tx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222E1FA6-9BAA-48F7-9B48-E78A7FC60C7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42" y="38924"/>
            <a:ext cx="1119282" cy="108649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6456D31B-DA89-4FCC-A0CF-973CBA8BD493}"/>
              </a:ext>
            </a:extLst>
          </p:cNvPr>
          <p:cNvSpPr txBox="1"/>
          <p:nvPr userDrawn="1"/>
        </p:nvSpPr>
        <p:spPr>
          <a:xfrm>
            <a:off x="1218924" y="166670"/>
            <a:ext cx="588610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dirty="0"/>
              <a:t>PROGRAM STUDI S1 TEKNIK INFORMATIKA</a:t>
            </a:r>
            <a:br>
              <a:rPr lang="en-US" sz="2400" dirty="0"/>
            </a:br>
            <a:r>
              <a:rPr lang="en-US" sz="2400" dirty="0"/>
              <a:t>UNIVERSITAS PAMULANG</a:t>
            </a:r>
            <a:endParaRPr lang="en-ID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C960A43D-3921-41B8-B4DC-C239EAEA847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8352" y="0"/>
            <a:ext cx="2143648" cy="1205802"/>
          </a:xfrm>
          <a:prstGeom prst="rect">
            <a:avLst/>
          </a:prstGeom>
        </p:spPr>
      </p:pic>
      <p:sp>
        <p:nvSpPr>
          <p:cNvPr id="6" name="Title Placeholder 5">
            <a:extLst>
              <a:ext uri="{FF2B5EF4-FFF2-40B4-BE49-F238E27FC236}">
                <a16:creationId xmlns="" xmlns:a16="http://schemas.microsoft.com/office/drawing/2014/main" id="{36AE1D4B-E2EF-47C4-A1A7-5689711E6F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0446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Flowchart: Process 2">
            <a:extLst>
              <a:ext uri="{FF2B5EF4-FFF2-40B4-BE49-F238E27FC236}">
                <a16:creationId xmlns="" xmlns:a16="http://schemas.microsoft.com/office/drawing/2014/main" id="{59788E57-52DB-4E2B-A81F-D18E71DA02CB}"/>
              </a:ext>
            </a:extLst>
          </p:cNvPr>
          <p:cNvSpPr/>
          <p:nvPr userDrawn="1"/>
        </p:nvSpPr>
        <p:spPr>
          <a:xfrm>
            <a:off x="0" y="6360607"/>
            <a:ext cx="12192000" cy="497393"/>
          </a:xfrm>
          <a:prstGeom prst="flowChartProcess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EE8BF5A5-79AC-4428-A4CF-F44278AA4D6F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7255" y="6422940"/>
            <a:ext cx="453018" cy="43911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="" xmlns:a16="http://schemas.microsoft.com/office/drawing/2014/main" id="{0F13C787-49DC-45B2-99DA-FD9DF4541EF2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42" y="6419057"/>
            <a:ext cx="380491" cy="38049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="" xmlns:a16="http://schemas.microsoft.com/office/drawing/2014/main" id="{AC0EC3BD-0F33-4AAF-A3A2-953764A0D99A}"/>
              </a:ext>
            </a:extLst>
          </p:cNvPr>
          <p:cNvSpPr txBox="1"/>
          <p:nvPr userDrawn="1"/>
        </p:nvSpPr>
        <p:spPr>
          <a:xfrm>
            <a:off x="480133" y="6412026"/>
            <a:ext cx="17936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InfoTI_unpam</a:t>
            </a:r>
            <a:endParaRPr lang="en-ID" dirty="0"/>
          </a:p>
        </p:txBody>
      </p:sp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60CFA357-EB7B-4C90-B08D-FF68109B966A}"/>
              </a:ext>
            </a:extLst>
          </p:cNvPr>
          <p:cNvSpPr txBox="1"/>
          <p:nvPr userDrawn="1"/>
        </p:nvSpPr>
        <p:spPr>
          <a:xfrm>
            <a:off x="2527388" y="6412026"/>
            <a:ext cx="26977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informatika.unpam.ac.id</a:t>
            </a:r>
            <a:endParaRPr lang="en-ID" dirty="0"/>
          </a:p>
        </p:txBody>
      </p:sp>
      <p:pic>
        <p:nvPicPr>
          <p:cNvPr id="16" name="Picture 15">
            <a:extLst>
              <a:ext uri="{FF2B5EF4-FFF2-40B4-BE49-F238E27FC236}">
                <a16:creationId xmlns="" xmlns:a16="http://schemas.microsoft.com/office/drawing/2014/main" id="{C10FF8DC-21DB-400A-A27F-9751868D2AFC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43996" y="6412026"/>
            <a:ext cx="648362" cy="458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13102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5">
            <a:extLst>
              <a:ext uri="{FF2B5EF4-FFF2-40B4-BE49-F238E27FC236}">
                <a16:creationId xmlns="" xmlns:a16="http://schemas.microsoft.com/office/drawing/2014/main" id="{36AE1D4B-E2EF-47C4-A1A7-5689711E6F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0446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Flowchart: Process 2">
            <a:extLst>
              <a:ext uri="{FF2B5EF4-FFF2-40B4-BE49-F238E27FC236}">
                <a16:creationId xmlns="" xmlns:a16="http://schemas.microsoft.com/office/drawing/2014/main" id="{59788E57-52DB-4E2B-A81F-D18E71DA02CB}"/>
              </a:ext>
            </a:extLst>
          </p:cNvPr>
          <p:cNvSpPr/>
          <p:nvPr userDrawn="1"/>
        </p:nvSpPr>
        <p:spPr>
          <a:xfrm>
            <a:off x="0" y="6360607"/>
            <a:ext cx="12192000" cy="497393"/>
          </a:xfrm>
          <a:prstGeom prst="flowChartProcess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EE8BF5A5-79AC-4428-A4CF-F44278AA4D6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7255" y="6422940"/>
            <a:ext cx="453018" cy="43911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="" xmlns:a16="http://schemas.microsoft.com/office/drawing/2014/main" id="{0F13C787-49DC-45B2-99DA-FD9DF4541EF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42" y="6419057"/>
            <a:ext cx="380491" cy="38049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="" xmlns:a16="http://schemas.microsoft.com/office/drawing/2014/main" id="{AC0EC3BD-0F33-4AAF-A3A2-953764A0D99A}"/>
              </a:ext>
            </a:extLst>
          </p:cNvPr>
          <p:cNvSpPr txBox="1"/>
          <p:nvPr userDrawn="1"/>
        </p:nvSpPr>
        <p:spPr>
          <a:xfrm>
            <a:off x="480133" y="6412026"/>
            <a:ext cx="17936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InfoTI_unpam</a:t>
            </a:r>
            <a:endParaRPr lang="en-ID" dirty="0"/>
          </a:p>
        </p:txBody>
      </p:sp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60CFA357-EB7B-4C90-B08D-FF68109B966A}"/>
              </a:ext>
            </a:extLst>
          </p:cNvPr>
          <p:cNvSpPr txBox="1"/>
          <p:nvPr userDrawn="1"/>
        </p:nvSpPr>
        <p:spPr>
          <a:xfrm>
            <a:off x="2527388" y="6412026"/>
            <a:ext cx="26977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informatika.unpam.ac.id</a:t>
            </a:r>
            <a:endParaRPr lang="en-ID" dirty="0"/>
          </a:p>
        </p:txBody>
      </p:sp>
      <p:pic>
        <p:nvPicPr>
          <p:cNvPr id="16" name="Picture 15">
            <a:extLst>
              <a:ext uri="{FF2B5EF4-FFF2-40B4-BE49-F238E27FC236}">
                <a16:creationId xmlns="" xmlns:a16="http://schemas.microsoft.com/office/drawing/2014/main" id="{C10FF8DC-21DB-400A-A27F-9751868D2AFC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43996" y="6412026"/>
            <a:ext cx="648362" cy="45873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="" xmlns:a16="http://schemas.microsoft.com/office/drawing/2014/main" id="{70E9772E-AF4F-4C17-B477-D78352308CB6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1590" y="6366986"/>
            <a:ext cx="512406" cy="497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18616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ight Triangle 8">
            <a:extLst>
              <a:ext uri="{FF2B5EF4-FFF2-40B4-BE49-F238E27FC236}">
                <a16:creationId xmlns="" xmlns:a16="http://schemas.microsoft.com/office/drawing/2014/main" id="{0FE1B4E5-ADBE-44E9-94B8-12353259E240}"/>
              </a:ext>
            </a:extLst>
          </p:cNvPr>
          <p:cNvSpPr/>
          <p:nvPr userDrawn="1"/>
        </p:nvSpPr>
        <p:spPr>
          <a:xfrm rot="16200000">
            <a:off x="10209964" y="4875960"/>
            <a:ext cx="1884065" cy="2080010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F6310508-6870-44FB-B67F-C3F1350DB66D}"/>
              </a:ext>
            </a:extLst>
          </p:cNvPr>
          <p:cNvSpPr/>
          <p:nvPr userDrawn="1"/>
        </p:nvSpPr>
        <p:spPr>
          <a:xfrm>
            <a:off x="0" y="6211614"/>
            <a:ext cx="12192000" cy="64638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Program </a:t>
            </a:r>
            <a:r>
              <a:rPr lang="en-US" sz="2000" dirty="0" err="1">
                <a:solidFill>
                  <a:schemeClr val="tx1"/>
                </a:solidFill>
              </a:rPr>
              <a:t>Studi</a:t>
            </a:r>
            <a:r>
              <a:rPr lang="en-US" sz="2000" dirty="0">
                <a:solidFill>
                  <a:schemeClr val="tx1"/>
                </a:solidFill>
              </a:rPr>
              <a:t> Teknik </a:t>
            </a:r>
            <a:r>
              <a:rPr lang="en-US" sz="2000" dirty="0" err="1">
                <a:solidFill>
                  <a:schemeClr val="tx1"/>
                </a:solidFill>
              </a:rPr>
              <a:t>Informatika</a:t>
            </a:r>
            <a:r>
              <a:rPr lang="en-US" sz="2000" dirty="0">
                <a:solidFill>
                  <a:schemeClr val="tx1"/>
                </a:solidFill>
              </a:rPr>
              <a:t>, Universitas </a:t>
            </a:r>
            <a:r>
              <a:rPr lang="en-US" sz="2000" dirty="0" err="1">
                <a:solidFill>
                  <a:schemeClr val="tx1"/>
                </a:solidFill>
              </a:rPr>
              <a:t>Pamulang</a:t>
            </a:r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 </a:t>
            </a:r>
            <a:endParaRPr lang="en-ID" sz="2000" dirty="0">
              <a:solidFill>
                <a:schemeClr val="tx1"/>
              </a:solidFill>
            </a:endParaRPr>
          </a:p>
        </p:txBody>
      </p:sp>
      <p:sp>
        <p:nvSpPr>
          <p:cNvPr id="8" name="Right Triangle 7">
            <a:extLst>
              <a:ext uri="{FF2B5EF4-FFF2-40B4-BE49-F238E27FC236}">
                <a16:creationId xmlns="" xmlns:a16="http://schemas.microsoft.com/office/drawing/2014/main" id="{4354D356-3AB9-4317-AD64-9733710C017F}"/>
              </a:ext>
            </a:extLst>
          </p:cNvPr>
          <p:cNvSpPr/>
          <p:nvPr userDrawn="1"/>
        </p:nvSpPr>
        <p:spPr>
          <a:xfrm>
            <a:off x="0" y="5074416"/>
            <a:ext cx="1597688" cy="1783584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222E1FA6-9BAA-48F7-9B48-E78A7FC60C7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9172" y="5725289"/>
            <a:ext cx="1042588" cy="101204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="" xmlns:a16="http://schemas.microsoft.com/office/drawing/2014/main" id="{B1A5ABCE-DB0D-44E8-AF1B-A1F9AA2448CF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0581" y="5864994"/>
            <a:ext cx="1403488" cy="99300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A7710A05-4BC0-4640-9166-A8A038BAD88C}"/>
              </a:ext>
            </a:extLst>
          </p:cNvPr>
          <p:cNvSpPr txBox="1"/>
          <p:nvPr userDrawn="1"/>
        </p:nvSpPr>
        <p:spPr>
          <a:xfrm>
            <a:off x="3898760" y="2622619"/>
            <a:ext cx="519499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/>
              <a:t>TERIMA KASIH</a:t>
            </a:r>
            <a:endParaRPr lang="en-ID" sz="5400" dirty="0"/>
          </a:p>
        </p:txBody>
      </p:sp>
    </p:spTree>
    <p:extLst>
      <p:ext uri="{BB962C8B-B14F-4D97-AF65-F5344CB8AC3E}">
        <p14:creationId xmlns:p14="http://schemas.microsoft.com/office/powerpoint/2010/main" val="3211736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ight Triangle 8">
            <a:extLst>
              <a:ext uri="{FF2B5EF4-FFF2-40B4-BE49-F238E27FC236}">
                <a16:creationId xmlns="" xmlns:a16="http://schemas.microsoft.com/office/drawing/2014/main" id="{0FE1B4E5-ADBE-44E9-94B8-12353259E240}"/>
              </a:ext>
            </a:extLst>
          </p:cNvPr>
          <p:cNvSpPr/>
          <p:nvPr userDrawn="1"/>
        </p:nvSpPr>
        <p:spPr>
          <a:xfrm rot="16200000">
            <a:off x="10209964" y="4875960"/>
            <a:ext cx="1884065" cy="2080010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F6310508-6870-44FB-B67F-C3F1350DB66D}"/>
              </a:ext>
            </a:extLst>
          </p:cNvPr>
          <p:cNvSpPr/>
          <p:nvPr userDrawn="1"/>
        </p:nvSpPr>
        <p:spPr>
          <a:xfrm>
            <a:off x="0" y="6211614"/>
            <a:ext cx="12192000" cy="64638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Program </a:t>
            </a:r>
            <a:r>
              <a:rPr lang="en-US" sz="2000" dirty="0" err="1">
                <a:solidFill>
                  <a:schemeClr val="tx1"/>
                </a:solidFill>
              </a:rPr>
              <a:t>Studi</a:t>
            </a:r>
            <a:r>
              <a:rPr lang="en-US" sz="2000" dirty="0">
                <a:solidFill>
                  <a:schemeClr val="tx1"/>
                </a:solidFill>
              </a:rPr>
              <a:t> Teknik </a:t>
            </a:r>
            <a:r>
              <a:rPr lang="en-US" sz="2000" dirty="0" err="1">
                <a:solidFill>
                  <a:schemeClr val="tx1"/>
                </a:solidFill>
              </a:rPr>
              <a:t>Informatika</a:t>
            </a:r>
            <a:r>
              <a:rPr lang="en-US" sz="2000" dirty="0">
                <a:solidFill>
                  <a:schemeClr val="tx1"/>
                </a:solidFill>
              </a:rPr>
              <a:t>, Universitas </a:t>
            </a:r>
            <a:r>
              <a:rPr lang="en-US" sz="2000" dirty="0" err="1">
                <a:solidFill>
                  <a:schemeClr val="tx1"/>
                </a:solidFill>
              </a:rPr>
              <a:t>Pamulang</a:t>
            </a:r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 </a:t>
            </a:r>
            <a:endParaRPr lang="en-ID" sz="2000" dirty="0">
              <a:solidFill>
                <a:schemeClr val="tx1"/>
              </a:solidFill>
            </a:endParaRPr>
          </a:p>
        </p:txBody>
      </p:sp>
      <p:sp>
        <p:nvSpPr>
          <p:cNvPr id="8" name="Right Triangle 7">
            <a:extLst>
              <a:ext uri="{FF2B5EF4-FFF2-40B4-BE49-F238E27FC236}">
                <a16:creationId xmlns="" xmlns:a16="http://schemas.microsoft.com/office/drawing/2014/main" id="{4354D356-3AB9-4317-AD64-9733710C017F}"/>
              </a:ext>
            </a:extLst>
          </p:cNvPr>
          <p:cNvSpPr/>
          <p:nvPr userDrawn="1"/>
        </p:nvSpPr>
        <p:spPr>
          <a:xfrm>
            <a:off x="0" y="5074416"/>
            <a:ext cx="1597688" cy="1783584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222E1FA6-9BAA-48F7-9B48-E78A7FC60C7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9172" y="5725289"/>
            <a:ext cx="1042588" cy="101204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="" xmlns:a16="http://schemas.microsoft.com/office/drawing/2014/main" id="{B1A5ABCE-DB0D-44E8-AF1B-A1F9AA2448CF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0581" y="5864994"/>
            <a:ext cx="1403488" cy="993004"/>
          </a:xfrm>
          <a:prstGeom prst="rect">
            <a:avLst/>
          </a:prstGeom>
        </p:spPr>
      </p:pic>
      <p:sp>
        <p:nvSpPr>
          <p:cNvPr id="6" name="Flowchart: Process 5">
            <a:extLst>
              <a:ext uri="{FF2B5EF4-FFF2-40B4-BE49-F238E27FC236}">
                <a16:creationId xmlns="" xmlns:a16="http://schemas.microsoft.com/office/drawing/2014/main" id="{38F377F8-55ED-4437-98B9-2D2AA5DD3B4A}"/>
              </a:ext>
            </a:extLst>
          </p:cNvPr>
          <p:cNvSpPr/>
          <p:nvPr userDrawn="1"/>
        </p:nvSpPr>
        <p:spPr>
          <a:xfrm>
            <a:off x="0" y="2582426"/>
            <a:ext cx="12192000" cy="646385"/>
          </a:xfrm>
          <a:prstGeom prst="flowChartProcess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TERIMA KASIH, MAHASISWA TEKNIK INFORMATIKA UNGGUL, ANDA SUDAH BELAJAR DENGAN LUAR BIASA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9739215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365A30DD-8BE8-42A1-85CC-D069AF516FB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7600" y="2057400"/>
            <a:ext cx="4876800" cy="2743200"/>
          </a:xfrm>
          <a:prstGeom prst="rect">
            <a:avLst/>
          </a:prstGeom>
        </p:spPr>
      </p:pic>
      <p:sp>
        <p:nvSpPr>
          <p:cNvPr id="9" name="Right Triangle 8">
            <a:extLst>
              <a:ext uri="{FF2B5EF4-FFF2-40B4-BE49-F238E27FC236}">
                <a16:creationId xmlns="" xmlns:a16="http://schemas.microsoft.com/office/drawing/2014/main" id="{0FE1B4E5-ADBE-44E9-94B8-12353259E240}"/>
              </a:ext>
            </a:extLst>
          </p:cNvPr>
          <p:cNvSpPr/>
          <p:nvPr userDrawn="1"/>
        </p:nvSpPr>
        <p:spPr>
          <a:xfrm rot="16200000">
            <a:off x="10209964" y="4875960"/>
            <a:ext cx="1884065" cy="2080010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F6310508-6870-44FB-B67F-C3F1350DB66D}"/>
              </a:ext>
            </a:extLst>
          </p:cNvPr>
          <p:cNvSpPr/>
          <p:nvPr userDrawn="1"/>
        </p:nvSpPr>
        <p:spPr>
          <a:xfrm>
            <a:off x="0" y="6211614"/>
            <a:ext cx="12192000" cy="64638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Program </a:t>
            </a:r>
            <a:r>
              <a:rPr lang="en-US" sz="2000" dirty="0" err="1">
                <a:solidFill>
                  <a:schemeClr val="tx1"/>
                </a:solidFill>
              </a:rPr>
              <a:t>Studi</a:t>
            </a:r>
            <a:r>
              <a:rPr lang="en-US" sz="2000" dirty="0">
                <a:solidFill>
                  <a:schemeClr val="tx1"/>
                </a:solidFill>
              </a:rPr>
              <a:t> Teknik </a:t>
            </a:r>
            <a:r>
              <a:rPr lang="en-US" sz="2000" dirty="0" err="1">
                <a:solidFill>
                  <a:schemeClr val="tx1"/>
                </a:solidFill>
              </a:rPr>
              <a:t>Informatika</a:t>
            </a:r>
            <a:r>
              <a:rPr lang="en-US" sz="2000" dirty="0">
                <a:solidFill>
                  <a:schemeClr val="tx1"/>
                </a:solidFill>
              </a:rPr>
              <a:t>, Universitas </a:t>
            </a:r>
            <a:r>
              <a:rPr lang="en-US" sz="2000" dirty="0" err="1">
                <a:solidFill>
                  <a:schemeClr val="tx1"/>
                </a:solidFill>
              </a:rPr>
              <a:t>Pamulang</a:t>
            </a:r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 </a:t>
            </a:r>
            <a:endParaRPr lang="en-ID" sz="2000" dirty="0">
              <a:solidFill>
                <a:schemeClr val="tx1"/>
              </a:solidFill>
            </a:endParaRPr>
          </a:p>
        </p:txBody>
      </p:sp>
      <p:sp>
        <p:nvSpPr>
          <p:cNvPr id="8" name="Right Triangle 7">
            <a:extLst>
              <a:ext uri="{FF2B5EF4-FFF2-40B4-BE49-F238E27FC236}">
                <a16:creationId xmlns="" xmlns:a16="http://schemas.microsoft.com/office/drawing/2014/main" id="{4354D356-3AB9-4317-AD64-9733710C017F}"/>
              </a:ext>
            </a:extLst>
          </p:cNvPr>
          <p:cNvSpPr/>
          <p:nvPr userDrawn="1"/>
        </p:nvSpPr>
        <p:spPr>
          <a:xfrm>
            <a:off x="0" y="5074416"/>
            <a:ext cx="1597688" cy="1783584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222E1FA6-9BAA-48F7-9B48-E78A7FC60C74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9172" y="5725289"/>
            <a:ext cx="1042588" cy="101204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="" xmlns:a16="http://schemas.microsoft.com/office/drawing/2014/main" id="{B1A5ABCE-DB0D-44E8-AF1B-A1F9AA2448CF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0581" y="5864994"/>
            <a:ext cx="1403488" cy="993004"/>
          </a:xfrm>
          <a:prstGeom prst="rect">
            <a:avLst/>
          </a:prstGeom>
        </p:spPr>
      </p:pic>
      <p:sp>
        <p:nvSpPr>
          <p:cNvPr id="6" name="Flowchart: Process 5">
            <a:extLst>
              <a:ext uri="{FF2B5EF4-FFF2-40B4-BE49-F238E27FC236}">
                <a16:creationId xmlns="" xmlns:a16="http://schemas.microsoft.com/office/drawing/2014/main" id="{38F377F8-55ED-4437-98B9-2D2AA5DD3B4A}"/>
              </a:ext>
            </a:extLst>
          </p:cNvPr>
          <p:cNvSpPr/>
          <p:nvPr userDrawn="1"/>
        </p:nvSpPr>
        <p:spPr>
          <a:xfrm>
            <a:off x="0" y="0"/>
            <a:ext cx="12192000" cy="646385"/>
          </a:xfrm>
          <a:prstGeom prst="flowChartProcess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TERIMA KASIH, MAHASISWA TEKNIK INFORMATIKA UNGGUL, ANDA SUDAH BELAJAR DENGAN LUAR BIASA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4046653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ight Triangle 8">
            <a:extLst>
              <a:ext uri="{FF2B5EF4-FFF2-40B4-BE49-F238E27FC236}">
                <a16:creationId xmlns="" xmlns:a16="http://schemas.microsoft.com/office/drawing/2014/main" id="{0FE1B4E5-ADBE-44E9-94B8-12353259E240}"/>
              </a:ext>
            </a:extLst>
          </p:cNvPr>
          <p:cNvSpPr/>
          <p:nvPr userDrawn="1"/>
        </p:nvSpPr>
        <p:spPr>
          <a:xfrm rot="16200000">
            <a:off x="10209964" y="4875960"/>
            <a:ext cx="1884065" cy="2080010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F6310508-6870-44FB-B67F-C3F1350DB66D}"/>
              </a:ext>
            </a:extLst>
          </p:cNvPr>
          <p:cNvSpPr/>
          <p:nvPr userDrawn="1"/>
        </p:nvSpPr>
        <p:spPr>
          <a:xfrm>
            <a:off x="0" y="6211614"/>
            <a:ext cx="12192000" cy="64638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Program </a:t>
            </a:r>
            <a:r>
              <a:rPr lang="en-US" sz="2000" dirty="0" err="1">
                <a:solidFill>
                  <a:schemeClr val="tx1"/>
                </a:solidFill>
              </a:rPr>
              <a:t>Studi</a:t>
            </a:r>
            <a:r>
              <a:rPr lang="en-US" sz="2000" dirty="0">
                <a:solidFill>
                  <a:schemeClr val="tx1"/>
                </a:solidFill>
              </a:rPr>
              <a:t> Teknik </a:t>
            </a:r>
            <a:r>
              <a:rPr lang="en-US" sz="2000" dirty="0" err="1">
                <a:solidFill>
                  <a:schemeClr val="tx1"/>
                </a:solidFill>
              </a:rPr>
              <a:t>Informatika</a:t>
            </a:r>
            <a:r>
              <a:rPr lang="en-US" sz="2000" dirty="0">
                <a:solidFill>
                  <a:schemeClr val="tx1"/>
                </a:solidFill>
              </a:rPr>
              <a:t>, Universitas </a:t>
            </a:r>
            <a:r>
              <a:rPr lang="en-US" sz="2000" dirty="0" err="1">
                <a:solidFill>
                  <a:schemeClr val="tx1"/>
                </a:solidFill>
              </a:rPr>
              <a:t>Pamulang</a:t>
            </a:r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 </a:t>
            </a:r>
            <a:endParaRPr lang="en-ID" sz="2000" dirty="0">
              <a:solidFill>
                <a:schemeClr val="tx1"/>
              </a:solidFill>
            </a:endParaRPr>
          </a:p>
        </p:txBody>
      </p:sp>
      <p:sp>
        <p:nvSpPr>
          <p:cNvPr id="8" name="Right Triangle 7">
            <a:extLst>
              <a:ext uri="{FF2B5EF4-FFF2-40B4-BE49-F238E27FC236}">
                <a16:creationId xmlns="" xmlns:a16="http://schemas.microsoft.com/office/drawing/2014/main" id="{4354D356-3AB9-4317-AD64-9733710C017F}"/>
              </a:ext>
            </a:extLst>
          </p:cNvPr>
          <p:cNvSpPr/>
          <p:nvPr userDrawn="1"/>
        </p:nvSpPr>
        <p:spPr>
          <a:xfrm>
            <a:off x="0" y="5074416"/>
            <a:ext cx="1597688" cy="1783584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222E1FA6-9BAA-48F7-9B48-E78A7FC60C74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9172" y="5725289"/>
            <a:ext cx="1042588" cy="101204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="" xmlns:a16="http://schemas.microsoft.com/office/drawing/2014/main" id="{B1A5ABCE-DB0D-44E8-AF1B-A1F9AA2448CF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0581" y="5864994"/>
            <a:ext cx="1403488" cy="993004"/>
          </a:xfrm>
          <a:prstGeom prst="rect">
            <a:avLst/>
          </a:prstGeom>
        </p:spPr>
      </p:pic>
      <p:sp>
        <p:nvSpPr>
          <p:cNvPr id="34" name="Text Placeholder 33">
            <a:extLst>
              <a:ext uri="{FF2B5EF4-FFF2-40B4-BE49-F238E27FC236}">
                <a16:creationId xmlns="" xmlns:a16="http://schemas.microsoft.com/office/drawing/2014/main" id="{73922ECC-A830-4C03-9B45-AEB8C3D23C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D" dirty="0"/>
          </a:p>
        </p:txBody>
      </p:sp>
      <p:sp>
        <p:nvSpPr>
          <p:cNvPr id="35" name="Title Placeholder 34">
            <a:extLst>
              <a:ext uri="{FF2B5EF4-FFF2-40B4-BE49-F238E27FC236}">
                <a16:creationId xmlns="" xmlns:a16="http://schemas.microsoft.com/office/drawing/2014/main" id="{862CBB9D-7640-4DCE-8E7A-C98B9F67D6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8016205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85" r:id="rId3"/>
    <p:sldLayoutId id="2147483652" r:id="rId4"/>
    <p:sldLayoutId id="2147483651" r:id="rId5"/>
    <p:sldLayoutId id="2147483686" r:id="rId6"/>
    <p:sldLayoutId id="2147483687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F6310508-6870-44FB-B67F-C3F1350DB66D}"/>
              </a:ext>
            </a:extLst>
          </p:cNvPr>
          <p:cNvSpPr/>
          <p:nvPr userDrawn="1"/>
        </p:nvSpPr>
        <p:spPr>
          <a:xfrm>
            <a:off x="0" y="1"/>
            <a:ext cx="12192000" cy="120446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 </a:t>
            </a:r>
            <a:endParaRPr lang="en-ID" sz="2000" dirty="0">
              <a:solidFill>
                <a:schemeClr val="tx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222E1FA6-9BAA-48F7-9B48-E78A7FC60C7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42" y="38924"/>
            <a:ext cx="1119282" cy="108649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6456D31B-DA89-4FCC-A0CF-973CBA8BD493}"/>
              </a:ext>
            </a:extLst>
          </p:cNvPr>
          <p:cNvSpPr txBox="1"/>
          <p:nvPr userDrawn="1"/>
        </p:nvSpPr>
        <p:spPr>
          <a:xfrm>
            <a:off x="1218924" y="166670"/>
            <a:ext cx="588610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dirty="0"/>
              <a:t>PROGRAM STUDI S1 TEKNIK INFORMATIKA</a:t>
            </a:r>
            <a:br>
              <a:rPr lang="en-US" sz="2400" dirty="0"/>
            </a:br>
            <a:r>
              <a:rPr lang="en-US" sz="2400" dirty="0"/>
              <a:t>UNIVERSITAS PAMULANG</a:t>
            </a:r>
            <a:endParaRPr lang="en-ID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C960A43D-3921-41B8-B4DC-C239EAEA847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48352" y="0"/>
            <a:ext cx="2143648" cy="1205802"/>
          </a:xfrm>
          <a:prstGeom prst="rect">
            <a:avLst/>
          </a:prstGeom>
        </p:spPr>
      </p:pic>
      <p:sp>
        <p:nvSpPr>
          <p:cNvPr id="6" name="Title Placeholder 5">
            <a:extLst>
              <a:ext uri="{FF2B5EF4-FFF2-40B4-BE49-F238E27FC236}">
                <a16:creationId xmlns="" xmlns:a16="http://schemas.microsoft.com/office/drawing/2014/main" id="{36AE1D4B-E2EF-47C4-A1A7-5689711E6F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0446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10" name="Text Placeholder 9">
            <a:extLst>
              <a:ext uri="{FF2B5EF4-FFF2-40B4-BE49-F238E27FC236}">
                <a16:creationId xmlns="" xmlns:a16="http://schemas.microsoft.com/office/drawing/2014/main" id="{3FA5E565-A9FD-45A9-9262-E4CE87B5C4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329881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406096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567122B0-D188-4F1B-9170-48FB515F7D1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Right Triangle 8">
            <a:extLst>
              <a:ext uri="{FF2B5EF4-FFF2-40B4-BE49-F238E27FC236}">
                <a16:creationId xmlns="" xmlns:a16="http://schemas.microsoft.com/office/drawing/2014/main" id="{0FE1B4E5-ADBE-44E9-94B8-12353259E240}"/>
              </a:ext>
            </a:extLst>
          </p:cNvPr>
          <p:cNvSpPr/>
          <p:nvPr userDrawn="1"/>
        </p:nvSpPr>
        <p:spPr>
          <a:xfrm rot="16200000">
            <a:off x="10209964" y="4875960"/>
            <a:ext cx="1884065" cy="2080010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F6310508-6870-44FB-B67F-C3F1350DB66D}"/>
              </a:ext>
            </a:extLst>
          </p:cNvPr>
          <p:cNvSpPr/>
          <p:nvPr userDrawn="1"/>
        </p:nvSpPr>
        <p:spPr>
          <a:xfrm>
            <a:off x="0" y="6211614"/>
            <a:ext cx="12192000" cy="64638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Program </a:t>
            </a:r>
            <a:r>
              <a:rPr lang="en-US" sz="2000" dirty="0" err="1">
                <a:solidFill>
                  <a:schemeClr val="tx1"/>
                </a:solidFill>
              </a:rPr>
              <a:t>Studi</a:t>
            </a:r>
            <a:r>
              <a:rPr lang="en-US" sz="2000" dirty="0">
                <a:solidFill>
                  <a:schemeClr val="tx1"/>
                </a:solidFill>
              </a:rPr>
              <a:t> Teknik </a:t>
            </a:r>
            <a:r>
              <a:rPr lang="en-US" sz="2000" dirty="0" err="1">
                <a:solidFill>
                  <a:schemeClr val="tx1"/>
                </a:solidFill>
              </a:rPr>
              <a:t>Informatika</a:t>
            </a:r>
            <a:r>
              <a:rPr lang="en-US" sz="2000" dirty="0">
                <a:solidFill>
                  <a:schemeClr val="tx1"/>
                </a:solidFill>
              </a:rPr>
              <a:t>, Universitas </a:t>
            </a:r>
            <a:r>
              <a:rPr lang="en-US" sz="2000" dirty="0" err="1">
                <a:solidFill>
                  <a:schemeClr val="tx1"/>
                </a:solidFill>
              </a:rPr>
              <a:t>Pamulang</a:t>
            </a:r>
            <a:endParaRPr lang="en-US" sz="2000" dirty="0">
              <a:solidFill>
                <a:schemeClr val="tx1"/>
              </a:solidFill>
            </a:endParaRPr>
          </a:p>
          <a:p>
            <a:pPr algn="ctr"/>
            <a:r>
              <a:rPr lang="en-US" sz="2000" dirty="0">
                <a:solidFill>
                  <a:schemeClr val="tx1"/>
                </a:solidFill>
              </a:rPr>
              <a:t> </a:t>
            </a:r>
            <a:endParaRPr lang="en-ID" sz="2000" dirty="0">
              <a:solidFill>
                <a:schemeClr val="tx1"/>
              </a:solidFill>
            </a:endParaRPr>
          </a:p>
        </p:txBody>
      </p:sp>
      <p:sp>
        <p:nvSpPr>
          <p:cNvPr id="8" name="Right Triangle 7">
            <a:extLst>
              <a:ext uri="{FF2B5EF4-FFF2-40B4-BE49-F238E27FC236}">
                <a16:creationId xmlns="" xmlns:a16="http://schemas.microsoft.com/office/drawing/2014/main" id="{4354D356-3AB9-4317-AD64-9733710C017F}"/>
              </a:ext>
            </a:extLst>
          </p:cNvPr>
          <p:cNvSpPr/>
          <p:nvPr userDrawn="1"/>
        </p:nvSpPr>
        <p:spPr>
          <a:xfrm>
            <a:off x="0" y="5074416"/>
            <a:ext cx="1597688" cy="1783584"/>
          </a:xfrm>
          <a:prstGeom prst="rtTriangl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222E1FA6-9BAA-48F7-9B48-E78A7FC60C74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9172" y="5725289"/>
            <a:ext cx="1042588" cy="101204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="" xmlns:a16="http://schemas.microsoft.com/office/drawing/2014/main" id="{B1A5ABCE-DB0D-44E8-AF1B-A1F9AA2448CF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0581" y="5864994"/>
            <a:ext cx="1403488" cy="993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60858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977131" y="2614138"/>
            <a:ext cx="1874231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id-ID" sz="4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dobe Ming Std L" pitchFamily="18" charset="-128"/>
                <a:ea typeface="Adobe Ming Std L" pitchFamily="18" charset="-128"/>
              </a:rPr>
              <a:t>FORM</a:t>
            </a:r>
            <a:endParaRPr lang="id-ID" sz="4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dobe Ming Std L" pitchFamily="18" charset="-128"/>
              <a:ea typeface="Adobe Ming Std L" pitchFamily="18" charset="-128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149324" y="3498930"/>
            <a:ext cx="5488234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d-ID" sz="2800" b="1" dirty="0" smtClean="0"/>
              <a:t>Oleh :</a:t>
            </a:r>
          </a:p>
          <a:p>
            <a:pPr algn="ctr"/>
            <a:r>
              <a:rPr lang="id-ID" sz="2800" b="1" dirty="0" smtClean="0"/>
              <a:t>Tim Dosen Prodi Teknik Informatika</a:t>
            </a:r>
          </a:p>
        </p:txBody>
      </p:sp>
    </p:spTree>
    <p:extLst>
      <p:ext uri="{BB962C8B-B14F-4D97-AF65-F5344CB8AC3E}">
        <p14:creationId xmlns:p14="http://schemas.microsoft.com/office/powerpoint/2010/main" val="20075252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15418" y="371681"/>
            <a:ext cx="141417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id-ID" sz="3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dobe Ming Std L" pitchFamily="18" charset="-128"/>
                <a:ea typeface="Adobe Ming Std L" pitchFamily="18" charset="-128"/>
              </a:rPr>
              <a:t>FORM</a:t>
            </a:r>
            <a:endParaRPr lang="id-ID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dobe Ming Std L" pitchFamily="18" charset="-128"/>
              <a:ea typeface="Adobe Ming Std L" pitchFamily="18" charset="-128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772885" y="1283062"/>
            <a:ext cx="7097486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id-ID" dirty="0" smtClean="0"/>
              <a:t>Tujuan penggunaan elemen HTML Form pada pengembangan website :</a:t>
            </a: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fi-FI" dirty="0" smtClean="0"/>
              <a:t>Mendapatkan </a:t>
            </a:r>
            <a:r>
              <a:rPr lang="fi-FI" dirty="0"/>
              <a:t>umpan balik dari  </a:t>
            </a:r>
            <a:r>
              <a:rPr lang="fi-FI" i="1" dirty="0"/>
              <a:t>user lain</a:t>
            </a: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id-ID" dirty="0" smtClean="0"/>
              <a:t>Mendapatkan  </a:t>
            </a:r>
            <a:r>
              <a:rPr lang="id-ID" dirty="0"/>
              <a:t>informasi transaksi pembelian secara </a:t>
            </a:r>
            <a:r>
              <a:rPr lang="id-ID" i="1" dirty="0"/>
              <a:t>online</a:t>
            </a: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id-ID" dirty="0" smtClean="0"/>
              <a:t>Mendapat </a:t>
            </a:r>
            <a:r>
              <a:rPr lang="id-ID" dirty="0"/>
              <a:t>biodata </a:t>
            </a:r>
            <a:r>
              <a:rPr lang="id-ID" i="1" dirty="0"/>
              <a:t>custumer  </a:t>
            </a:r>
          </a:p>
        </p:txBody>
      </p:sp>
      <p:sp>
        <p:nvSpPr>
          <p:cNvPr id="4" name="Rectangle 3"/>
          <p:cNvSpPr/>
          <p:nvPr/>
        </p:nvSpPr>
        <p:spPr>
          <a:xfrm>
            <a:off x="772885" y="3928283"/>
            <a:ext cx="487680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&lt;form action=”</a:t>
            </a:r>
            <a:r>
              <a:rPr lang="en-US" dirty="0" err="1"/>
              <a:t>url</a:t>
            </a:r>
            <a:r>
              <a:rPr lang="en-US" dirty="0"/>
              <a:t>” method=”get | post”&gt;</a:t>
            </a:r>
          </a:p>
          <a:p>
            <a:r>
              <a:rPr lang="id-ID" dirty="0"/>
              <a:t>   ………</a:t>
            </a:r>
          </a:p>
          <a:p>
            <a:r>
              <a:rPr lang="id-ID" dirty="0"/>
              <a:t>   ………</a:t>
            </a:r>
          </a:p>
          <a:p>
            <a:r>
              <a:rPr lang="id-ID" dirty="0"/>
              <a:t>&lt;/form&gt; </a:t>
            </a:r>
          </a:p>
        </p:txBody>
      </p:sp>
      <p:sp>
        <p:nvSpPr>
          <p:cNvPr id="5" name="Rectangle 4"/>
          <p:cNvSpPr/>
          <p:nvPr/>
        </p:nvSpPr>
        <p:spPr>
          <a:xfrm>
            <a:off x="783769" y="5311952"/>
            <a:ext cx="1086394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d-ID" dirty="0" smtClean="0"/>
              <a:t>url </a:t>
            </a:r>
            <a:r>
              <a:rPr lang="id-ID" dirty="0"/>
              <a:t>: nama file atau lokasi file yang akan melakukan proses selanjutnya </a:t>
            </a:r>
            <a:r>
              <a:rPr lang="id-ID" dirty="0" smtClean="0"/>
              <a:t>setelah menekan </a:t>
            </a:r>
            <a:r>
              <a:rPr lang="id-ID" dirty="0"/>
              <a:t>tombol submit</a:t>
            </a:r>
          </a:p>
          <a:p>
            <a:r>
              <a:rPr lang="id-ID" dirty="0"/>
              <a:t>method : metode yang digunakan pada saat proses pengiriman data yang </a:t>
            </a:r>
            <a:r>
              <a:rPr lang="id-ID" dirty="0" smtClean="0"/>
              <a:t>berasal dari </a:t>
            </a:r>
            <a:r>
              <a:rPr lang="id-ID" dirty="0"/>
              <a:t>form kepada program </a:t>
            </a:r>
            <a:r>
              <a:rPr lang="id-ID" dirty="0" smtClean="0"/>
              <a:t>CGI</a:t>
            </a: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25834543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15724" y="175733"/>
            <a:ext cx="296748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id-ID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dobe Ming Std L" pitchFamily="18" charset="-128"/>
                <a:ea typeface="Adobe Ming Std L" pitchFamily="18" charset="-128"/>
              </a:rPr>
              <a:t>INPUT pada FORM</a:t>
            </a:r>
            <a:endParaRPr lang="id-ID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dobe Ming Std L" pitchFamily="18" charset="-128"/>
              <a:ea typeface="Adobe Ming Std L" pitchFamily="18" charset="-128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16377" y="1122789"/>
            <a:ext cx="78899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id-ID" sz="2400" b="1" dirty="0" smtClean="0">
                <a:latin typeface="Adobe Fan Heiti Std B" pitchFamily="34" charset="-128"/>
                <a:ea typeface="Adobe Fan Heiti Std B" pitchFamily="34" charset="-128"/>
              </a:rPr>
              <a:t>Text</a:t>
            </a:r>
            <a:endParaRPr lang="id-ID" sz="2400" b="1" dirty="0">
              <a:latin typeface="Adobe Fan Heiti Std B" pitchFamily="34" charset="-128"/>
              <a:ea typeface="Adobe Fan Heiti Std B" pitchFamily="34" charset="-128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10876" y="1584454"/>
            <a:ext cx="397281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d-ID" dirty="0" smtClean="0"/>
              <a:t>input </a:t>
            </a:r>
            <a:r>
              <a:rPr lang="id-ID" dirty="0"/>
              <a:t>data dapat berupa angka atau teks</a:t>
            </a:r>
          </a:p>
        </p:txBody>
      </p:sp>
      <p:sp>
        <p:nvSpPr>
          <p:cNvPr id="5" name="Rectangle 4"/>
          <p:cNvSpPr/>
          <p:nvPr/>
        </p:nvSpPr>
        <p:spPr>
          <a:xfrm>
            <a:off x="710875" y="2801048"/>
            <a:ext cx="637572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&lt;input type=”text” name=”var1” </a:t>
            </a:r>
            <a:r>
              <a:rPr lang="en-US" dirty="0" smtClean="0"/>
              <a:t>size=n</a:t>
            </a:r>
            <a:r>
              <a:rPr lang="id-ID" dirty="0" smtClean="0"/>
              <a:t> maxlength=n </a:t>
            </a:r>
            <a:r>
              <a:rPr lang="id-ID" dirty="0"/>
              <a:t>value=….&gt; </a:t>
            </a:r>
          </a:p>
        </p:txBody>
      </p:sp>
      <p:sp>
        <p:nvSpPr>
          <p:cNvPr id="6" name="Rectangle 5"/>
          <p:cNvSpPr/>
          <p:nvPr/>
        </p:nvSpPr>
        <p:spPr>
          <a:xfrm>
            <a:off x="710874" y="3795844"/>
            <a:ext cx="9445497" cy="13388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itchFamily="2" charset="2"/>
              <a:buChar char="v"/>
            </a:pPr>
            <a:r>
              <a:rPr lang="id-ID" dirty="0"/>
              <a:t> n </a:t>
            </a:r>
            <a:r>
              <a:rPr lang="id-ID" dirty="0" smtClean="0"/>
              <a:t>		pada </a:t>
            </a:r>
            <a:r>
              <a:rPr lang="id-ID" dirty="0"/>
              <a:t>size menunjukkan ukuran text box </a:t>
            </a:r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v"/>
            </a:pPr>
            <a:r>
              <a:rPr lang="id-ID" dirty="0"/>
              <a:t> </a:t>
            </a:r>
            <a:r>
              <a:rPr lang="id-ID" dirty="0" smtClean="0"/>
              <a:t>maxlength 	menunjukkan </a:t>
            </a:r>
            <a:r>
              <a:rPr lang="id-ID" dirty="0"/>
              <a:t>jumlah karakter maksimum yang </a:t>
            </a:r>
            <a:r>
              <a:rPr lang="id-ID" dirty="0" smtClean="0"/>
              <a:t>dapat ditampung</a:t>
            </a:r>
            <a:endParaRPr lang="id-ID" dirty="0"/>
          </a:p>
          <a:p>
            <a:pPr marL="342900" indent="-342900">
              <a:lnSpc>
                <a:spcPct val="150000"/>
              </a:lnSpc>
              <a:buFont typeface="Wingdings" pitchFamily="2" charset="2"/>
              <a:buChar char="v"/>
            </a:pPr>
            <a:r>
              <a:rPr lang="id-ID" dirty="0"/>
              <a:t> v</a:t>
            </a:r>
            <a:r>
              <a:rPr lang="id-ID" dirty="0" smtClean="0"/>
              <a:t>alue 	merupakan </a:t>
            </a:r>
            <a:r>
              <a:rPr lang="id-ID" dirty="0"/>
              <a:t>nilai yang ditampung pada variabel yang </a:t>
            </a:r>
            <a:r>
              <a:rPr lang="id-ID" dirty="0" smtClean="0"/>
              <a:t>didefinisikan pada name </a:t>
            </a:r>
            <a:endParaRPr lang="id-ID" dirty="0"/>
          </a:p>
        </p:txBody>
      </p:sp>
      <p:sp>
        <p:nvSpPr>
          <p:cNvPr id="7" name="TextBox 6"/>
          <p:cNvSpPr txBox="1"/>
          <p:nvPr/>
        </p:nvSpPr>
        <p:spPr>
          <a:xfrm>
            <a:off x="740225" y="3494322"/>
            <a:ext cx="9973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dirty="0"/>
              <a:t>d</a:t>
            </a:r>
            <a:r>
              <a:rPr lang="id-ID" dirty="0" smtClean="0"/>
              <a:t>imana, </a:t>
            </a:r>
            <a:endParaRPr lang="id-ID" dirty="0"/>
          </a:p>
        </p:txBody>
      </p:sp>
      <p:sp>
        <p:nvSpPr>
          <p:cNvPr id="8" name="Rectangle 7"/>
          <p:cNvSpPr/>
          <p:nvPr/>
        </p:nvSpPr>
        <p:spPr>
          <a:xfrm>
            <a:off x="631371" y="2623458"/>
            <a:ext cx="6781800" cy="6858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6152670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15724" y="175733"/>
            <a:ext cx="296748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id-ID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dobe Ming Std L" pitchFamily="18" charset="-128"/>
                <a:ea typeface="Adobe Ming Std L" pitchFamily="18" charset="-128"/>
              </a:rPr>
              <a:t>INPUT pada FORM</a:t>
            </a:r>
            <a:endParaRPr lang="id-ID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dobe Ming Std L" pitchFamily="18" charset="-128"/>
              <a:ea typeface="Adobe Ming Std L" pitchFamily="18" charset="-128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15724" y="1122789"/>
            <a:ext cx="98135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id-ID" sz="2400" b="1" dirty="0" smtClean="0">
                <a:latin typeface="Adobe Fan Heiti Std B" pitchFamily="34" charset="-128"/>
                <a:ea typeface="Adobe Fan Heiti Std B" pitchFamily="34" charset="-128"/>
              </a:rPr>
              <a:t>Radio</a:t>
            </a:r>
            <a:endParaRPr lang="id-ID" sz="2400" b="1" dirty="0">
              <a:latin typeface="Adobe Fan Heiti Std B" pitchFamily="34" charset="-128"/>
              <a:ea typeface="Adobe Fan Heiti Std B" pitchFamily="34" charset="-128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10877" y="1584454"/>
            <a:ext cx="85655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d-ID" dirty="0"/>
              <a:t>d</a:t>
            </a:r>
            <a:r>
              <a:rPr lang="id-ID" dirty="0" smtClean="0"/>
              <a:t>igunakan untuk </a:t>
            </a:r>
            <a:r>
              <a:rPr lang="fi-FI" dirty="0"/>
              <a:t>menampilkan </a:t>
            </a:r>
            <a:r>
              <a:rPr lang="fi-FI" dirty="0" smtClean="0"/>
              <a:t>pilihan</a:t>
            </a:r>
            <a:r>
              <a:rPr lang="id-ID" dirty="0" smtClean="0"/>
              <a:t>, dengan input satu pilihan saja </a:t>
            </a:r>
            <a:r>
              <a:rPr lang="fi-FI" dirty="0" smtClean="0"/>
              <a:t>yang </a:t>
            </a:r>
            <a:r>
              <a:rPr lang="fi-FI" dirty="0"/>
              <a:t>dapat dipilih.</a:t>
            </a:r>
            <a:endParaRPr lang="id-ID" dirty="0"/>
          </a:p>
        </p:txBody>
      </p:sp>
      <p:sp>
        <p:nvSpPr>
          <p:cNvPr id="5" name="Rectangle 4"/>
          <p:cNvSpPr/>
          <p:nvPr/>
        </p:nvSpPr>
        <p:spPr>
          <a:xfrm>
            <a:off x="710877" y="2191435"/>
            <a:ext cx="6713180" cy="923330"/>
          </a:xfrm>
          <a:prstGeom prst="rect">
            <a:avLst/>
          </a:prstGeom>
          <a:ln w="9525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id-ID" dirty="0" smtClean="0"/>
              <a:t>&lt;i</a:t>
            </a:r>
            <a:r>
              <a:rPr lang="en-US" dirty="0" err="1" smtClean="0"/>
              <a:t>nput</a:t>
            </a:r>
            <a:r>
              <a:rPr lang="en-US" dirty="0" smtClean="0"/>
              <a:t> </a:t>
            </a:r>
            <a:r>
              <a:rPr lang="en-US" dirty="0"/>
              <a:t>type=”radio” name=”var1” value="... "&gt; </a:t>
            </a:r>
            <a:r>
              <a:rPr lang="en-US" dirty="0" err="1"/>
              <a:t>pilihan</a:t>
            </a:r>
            <a:r>
              <a:rPr lang="en-US" dirty="0"/>
              <a:t> 1 </a:t>
            </a:r>
          </a:p>
          <a:p>
            <a:pPr>
              <a:lnSpc>
                <a:spcPct val="150000"/>
              </a:lnSpc>
            </a:pPr>
            <a:r>
              <a:rPr lang="en-US" dirty="0"/>
              <a:t>&lt;input type=”radio” name=”var2” value</a:t>
            </a:r>
            <a:r>
              <a:rPr lang="en-US" dirty="0" smtClean="0"/>
              <a:t>=”.</a:t>
            </a:r>
            <a:r>
              <a:rPr lang="id-ID" dirty="0" smtClean="0"/>
              <a:t>.</a:t>
            </a:r>
            <a:r>
              <a:rPr lang="en-US" dirty="0" smtClean="0"/>
              <a:t>.</a:t>
            </a:r>
            <a:r>
              <a:rPr lang="id-ID" dirty="0" smtClean="0"/>
              <a:t> </a:t>
            </a:r>
            <a:r>
              <a:rPr lang="en-US" dirty="0" smtClean="0"/>
              <a:t>”&gt; </a:t>
            </a:r>
            <a:r>
              <a:rPr lang="en-US" dirty="0" err="1"/>
              <a:t>pilihan</a:t>
            </a:r>
            <a:r>
              <a:rPr lang="en-US" dirty="0"/>
              <a:t> 2 </a:t>
            </a:r>
            <a:endParaRPr lang="id-ID" dirty="0"/>
          </a:p>
        </p:txBody>
      </p:sp>
      <p:sp>
        <p:nvSpPr>
          <p:cNvPr id="6" name="Rectangle 5"/>
          <p:cNvSpPr/>
          <p:nvPr/>
        </p:nvSpPr>
        <p:spPr>
          <a:xfrm>
            <a:off x="315724" y="3576341"/>
            <a:ext cx="155844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id-ID" sz="2400" b="1" dirty="0" smtClean="0">
                <a:latin typeface="Adobe Fan Heiti Std B" pitchFamily="34" charset="-128"/>
                <a:ea typeface="Adobe Fan Heiti Std B" pitchFamily="34" charset="-128"/>
              </a:rPr>
              <a:t>Checkbox</a:t>
            </a:r>
            <a:endParaRPr lang="id-ID" sz="2400" b="1" dirty="0">
              <a:latin typeface="Adobe Fan Heiti Std B" pitchFamily="34" charset="-128"/>
              <a:ea typeface="Adobe Fan Heiti Std B" pitchFamily="34" charset="-128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56011" y="4067750"/>
            <a:ext cx="77915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d-ID" dirty="0"/>
              <a:t>d</a:t>
            </a:r>
            <a:r>
              <a:rPr lang="id-ID" dirty="0" smtClean="0"/>
              <a:t>igunakan untuk </a:t>
            </a:r>
            <a:r>
              <a:rPr lang="fi-FI" dirty="0"/>
              <a:t>menampilkan pilihan, </a:t>
            </a:r>
            <a:r>
              <a:rPr lang="id-ID" dirty="0" smtClean="0"/>
              <a:t>dengan input </a:t>
            </a:r>
            <a:r>
              <a:rPr lang="fi-FI" dirty="0" smtClean="0"/>
              <a:t>dapat </a:t>
            </a:r>
            <a:r>
              <a:rPr lang="fi-FI" dirty="0"/>
              <a:t>lebih dari satu </a:t>
            </a:r>
            <a:r>
              <a:rPr lang="fi-FI" dirty="0" smtClean="0"/>
              <a:t>pilihan</a:t>
            </a:r>
            <a:r>
              <a:rPr lang="id-ID" dirty="0" smtClean="0"/>
              <a:t>.</a:t>
            </a:r>
            <a:endParaRPr lang="fi-FI" dirty="0"/>
          </a:p>
        </p:txBody>
      </p:sp>
      <p:sp>
        <p:nvSpPr>
          <p:cNvPr id="8" name="Rectangle 7"/>
          <p:cNvSpPr/>
          <p:nvPr/>
        </p:nvSpPr>
        <p:spPr>
          <a:xfrm>
            <a:off x="710877" y="4652959"/>
            <a:ext cx="6713180" cy="92333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&lt;input type=”checkbox” name=”var1” value=" " checked</a:t>
            </a:r>
            <a:r>
              <a:rPr lang="en-US" dirty="0" smtClean="0"/>
              <a:t>&gt;</a:t>
            </a:r>
            <a:r>
              <a:rPr lang="id-ID" dirty="0" smtClean="0"/>
              <a:t> </a:t>
            </a:r>
            <a:r>
              <a:rPr lang="en-US" dirty="0" err="1" smtClean="0"/>
              <a:t>pilihan</a:t>
            </a:r>
            <a:r>
              <a:rPr lang="en-US" dirty="0" smtClean="0"/>
              <a:t> </a:t>
            </a:r>
            <a:r>
              <a:rPr lang="en-US" dirty="0"/>
              <a:t>1 </a:t>
            </a:r>
          </a:p>
          <a:p>
            <a:pPr>
              <a:lnSpc>
                <a:spcPct val="150000"/>
              </a:lnSpc>
            </a:pPr>
            <a:r>
              <a:rPr lang="id-ID" dirty="0"/>
              <a:t>&lt;input type=”checkbox” name=”var2”&gt;pilihan 2 </a:t>
            </a:r>
          </a:p>
        </p:txBody>
      </p:sp>
    </p:spTree>
    <p:extLst>
      <p:ext uri="{BB962C8B-B14F-4D97-AF65-F5344CB8AC3E}">
        <p14:creationId xmlns:p14="http://schemas.microsoft.com/office/powerpoint/2010/main" val="39046623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15724" y="175733"/>
            <a:ext cx="296748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id-ID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dobe Ming Std L" pitchFamily="18" charset="-128"/>
                <a:ea typeface="Adobe Ming Std L" pitchFamily="18" charset="-128"/>
              </a:rPr>
              <a:t>INPUT pada FORM</a:t>
            </a:r>
            <a:endParaRPr lang="id-ID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dobe Ming Std L" pitchFamily="18" charset="-128"/>
              <a:ea typeface="Adobe Ming Std L" pitchFamily="18" charset="-128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15724" y="1122789"/>
            <a:ext cx="353173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id-ID" sz="2400" b="1" dirty="0" smtClean="0">
                <a:latin typeface="Adobe Fan Heiti Std B" pitchFamily="34" charset="-128"/>
                <a:ea typeface="Adobe Fan Heiti Std B" pitchFamily="34" charset="-128"/>
              </a:rPr>
              <a:t>List atau Dropdown box</a:t>
            </a:r>
            <a:endParaRPr lang="id-ID" sz="2400" b="1" dirty="0">
              <a:latin typeface="Adobe Fan Heiti Std B" pitchFamily="34" charset="-128"/>
              <a:ea typeface="Adobe Fan Heiti Std B" pitchFamily="34" charset="-128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99461" y="1951818"/>
            <a:ext cx="6096000" cy="129586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id-ID" dirty="0"/>
              <a:t>&lt;select name=”var” size=n&gt; </a:t>
            </a:r>
          </a:p>
          <a:p>
            <a:pPr>
              <a:lnSpc>
                <a:spcPct val="150000"/>
              </a:lnSpc>
            </a:pPr>
            <a:r>
              <a:rPr lang="id-ID" dirty="0"/>
              <a:t>    &lt;option value=”… ”&gt;pilihan 1&lt;/option&gt; </a:t>
            </a:r>
          </a:p>
          <a:p>
            <a:pPr>
              <a:lnSpc>
                <a:spcPct val="150000"/>
              </a:lnSpc>
            </a:pPr>
            <a:r>
              <a:rPr lang="id-ID" dirty="0"/>
              <a:t>    &lt;option value=” … ”&gt;pilihan 2&lt;/option&gt; </a:t>
            </a:r>
          </a:p>
        </p:txBody>
      </p:sp>
      <p:sp>
        <p:nvSpPr>
          <p:cNvPr id="7" name="Rectangle 6"/>
          <p:cNvSpPr/>
          <p:nvPr/>
        </p:nvSpPr>
        <p:spPr>
          <a:xfrm>
            <a:off x="315724" y="3567874"/>
            <a:ext cx="150393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id-ID" sz="2400" b="1" dirty="0" smtClean="0">
                <a:latin typeface="Adobe Fan Heiti Std B" pitchFamily="34" charset="-128"/>
                <a:ea typeface="Adobe Fan Heiti Std B" pitchFamily="34" charset="-128"/>
              </a:rPr>
              <a:t>Text Area</a:t>
            </a:r>
            <a:endParaRPr lang="id-ID" sz="2400" b="1" dirty="0">
              <a:latin typeface="Adobe Fan Heiti Std B" pitchFamily="34" charset="-128"/>
              <a:ea typeface="Adobe Fan Heiti Std B" pitchFamily="34" charset="-128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19732" y="1584454"/>
            <a:ext cx="38509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i-FI" dirty="0"/>
              <a:t>menyediakan pilihan dalam bentuk list.</a:t>
            </a:r>
            <a:endParaRPr lang="id-ID" dirty="0"/>
          </a:p>
        </p:txBody>
      </p:sp>
      <p:sp>
        <p:nvSpPr>
          <p:cNvPr id="9" name="Rectangle 8"/>
          <p:cNvSpPr/>
          <p:nvPr/>
        </p:nvSpPr>
        <p:spPr>
          <a:xfrm>
            <a:off x="799461" y="4029539"/>
            <a:ext cx="27621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d-ID" dirty="0" smtClean="0"/>
              <a:t>input data lebih dari 1 baris</a:t>
            </a:r>
            <a:endParaRPr lang="id-ID" dirty="0"/>
          </a:p>
        </p:txBody>
      </p:sp>
      <p:sp>
        <p:nvSpPr>
          <p:cNvPr id="10" name="Rectangle 9"/>
          <p:cNvSpPr/>
          <p:nvPr/>
        </p:nvSpPr>
        <p:spPr>
          <a:xfrm>
            <a:off x="799461" y="4551275"/>
            <a:ext cx="6096000" cy="36933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pt-BR" dirty="0" smtClean="0"/>
              <a:t>&lt;textarea name=”var” cols=”n” rows=”n”&gt; … &lt;/textarea&gt; </a:t>
            </a:r>
            <a:endParaRPr lang="id-ID" dirty="0"/>
          </a:p>
        </p:txBody>
      </p:sp>
      <p:sp>
        <p:nvSpPr>
          <p:cNvPr id="11" name="Rectangle 10"/>
          <p:cNvSpPr/>
          <p:nvPr/>
        </p:nvSpPr>
        <p:spPr>
          <a:xfrm>
            <a:off x="1067693" y="5021713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id-ID" dirty="0"/>
              <a:t>Cols : jumlah karakter (besar kolom) </a:t>
            </a:r>
          </a:p>
          <a:p>
            <a:pPr>
              <a:lnSpc>
                <a:spcPct val="150000"/>
              </a:lnSpc>
            </a:pPr>
            <a:r>
              <a:rPr lang="id-ID" dirty="0" smtClean="0"/>
              <a:t>Rows </a:t>
            </a:r>
            <a:r>
              <a:rPr lang="id-ID" dirty="0"/>
              <a:t>: banyak baris </a:t>
            </a:r>
          </a:p>
        </p:txBody>
      </p:sp>
    </p:spTree>
    <p:extLst>
      <p:ext uri="{BB962C8B-B14F-4D97-AF65-F5344CB8AC3E}">
        <p14:creationId xmlns:p14="http://schemas.microsoft.com/office/powerpoint/2010/main" val="31480780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15724" y="175733"/>
            <a:ext cx="296748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id-ID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dobe Ming Std L" pitchFamily="18" charset="-128"/>
                <a:ea typeface="Adobe Ming Std L" pitchFamily="18" charset="-128"/>
              </a:rPr>
              <a:t>INPUT pada FORM</a:t>
            </a:r>
            <a:endParaRPr lang="id-ID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dobe Ming Std L" pitchFamily="18" charset="-128"/>
              <a:ea typeface="Adobe Ming Std L" pitchFamily="18" charset="-128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98795" y="1122789"/>
            <a:ext cx="234230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id-ID" sz="2400" b="1" dirty="0" smtClean="0">
                <a:latin typeface="Adobe Fan Heiti Std B" pitchFamily="34" charset="-128"/>
                <a:ea typeface="Adobe Fan Heiti Std B" pitchFamily="34" charset="-128"/>
              </a:rPr>
              <a:t>Tombol Submit</a:t>
            </a:r>
            <a:endParaRPr lang="id-ID" sz="2400" b="1" dirty="0">
              <a:latin typeface="Adobe Fan Heiti Std B" pitchFamily="34" charset="-128"/>
              <a:ea typeface="Adobe Fan Heiti Std B" pitchFamily="34" charset="-128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925288" y="4536389"/>
            <a:ext cx="6096000" cy="92333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id-ID" dirty="0"/>
              <a:t>&lt;input type=”submit”  value=” … “&gt;</a:t>
            </a:r>
          </a:p>
          <a:p>
            <a:pPr>
              <a:lnSpc>
                <a:spcPct val="150000"/>
              </a:lnSpc>
            </a:pPr>
            <a:r>
              <a:rPr lang="id-ID" dirty="0"/>
              <a:t>&lt;input type=”reset” value=” … “&gt; </a:t>
            </a:r>
          </a:p>
        </p:txBody>
      </p:sp>
      <p:sp>
        <p:nvSpPr>
          <p:cNvPr id="5" name="Rectangle 4"/>
          <p:cNvSpPr/>
          <p:nvPr/>
        </p:nvSpPr>
        <p:spPr>
          <a:xfrm>
            <a:off x="925288" y="1584454"/>
            <a:ext cx="10025741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id-ID" dirty="0" smtClean="0"/>
              <a:t>Dengan menekan </a:t>
            </a:r>
            <a:r>
              <a:rPr lang="id-ID" dirty="0"/>
              <a:t>tombol submit maka komputer akan membaca </a:t>
            </a:r>
            <a:r>
              <a:rPr lang="id-ID" i="1" dirty="0"/>
              <a:t>action yang </a:t>
            </a:r>
            <a:r>
              <a:rPr lang="id-ID" i="1" dirty="0" smtClean="0"/>
              <a:t>terdapat </a:t>
            </a:r>
            <a:r>
              <a:rPr lang="id-ID" dirty="0" smtClean="0"/>
              <a:t>pada </a:t>
            </a:r>
            <a:r>
              <a:rPr lang="id-ID" dirty="0"/>
              <a:t>Form dan melakukan proses selanjutnya sesuai dengan perintah </a:t>
            </a:r>
            <a:r>
              <a:rPr lang="id-ID" i="1" dirty="0"/>
              <a:t>Action. </a:t>
            </a:r>
            <a:endParaRPr lang="id-ID" dirty="0"/>
          </a:p>
        </p:txBody>
      </p:sp>
      <p:sp>
        <p:nvSpPr>
          <p:cNvPr id="6" name="Rectangle 5"/>
          <p:cNvSpPr/>
          <p:nvPr/>
        </p:nvSpPr>
        <p:spPr>
          <a:xfrm>
            <a:off x="925288" y="2819387"/>
            <a:ext cx="10175119" cy="13388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id-ID" dirty="0" smtClean="0"/>
              <a:t>Jenis </a:t>
            </a:r>
            <a:r>
              <a:rPr lang="id-ID" dirty="0"/>
              <a:t>tombol yang dapat digunakan dalam Form, </a:t>
            </a:r>
            <a:r>
              <a:rPr lang="id-ID" dirty="0" smtClean="0"/>
              <a:t>yaitu :</a:t>
            </a:r>
          </a:p>
          <a:p>
            <a:pPr marL="285750" indent="-285750" algn="just">
              <a:lnSpc>
                <a:spcPct val="150000"/>
              </a:lnSpc>
              <a:buFont typeface="Wingdings" pitchFamily="2" charset="2"/>
              <a:buChar char="v"/>
            </a:pPr>
            <a:r>
              <a:rPr lang="id-ID" dirty="0" smtClean="0"/>
              <a:t>tombol </a:t>
            </a:r>
            <a:r>
              <a:rPr lang="id-ID" i="1" dirty="0" smtClean="0"/>
              <a:t>submit</a:t>
            </a:r>
          </a:p>
          <a:p>
            <a:pPr marL="285750" indent="-285750" algn="just">
              <a:lnSpc>
                <a:spcPct val="150000"/>
              </a:lnSpc>
              <a:buFont typeface="Wingdings" pitchFamily="2" charset="2"/>
              <a:buChar char="v"/>
            </a:pPr>
            <a:r>
              <a:rPr lang="id-ID" dirty="0" smtClean="0"/>
              <a:t>tombol</a:t>
            </a:r>
            <a:r>
              <a:rPr lang="id-ID" i="1" dirty="0" smtClean="0"/>
              <a:t> </a:t>
            </a:r>
            <a:r>
              <a:rPr lang="id-ID" i="1" dirty="0"/>
              <a:t>reset. </a:t>
            </a:r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38746284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92734" y="316073"/>
            <a:ext cx="204466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d-ID" sz="3600" b="1" dirty="0">
                <a:solidFill>
                  <a:schemeClr val="bg1"/>
                </a:solidFill>
              </a:rPr>
              <a:t>Latihan </a:t>
            </a:r>
            <a:r>
              <a:rPr lang="id-ID" sz="3600" b="1" dirty="0" smtClean="0">
                <a:solidFill>
                  <a:schemeClr val="bg1"/>
                </a:solidFill>
              </a:rPr>
              <a:t>1 </a:t>
            </a:r>
            <a:endParaRPr lang="id-ID" sz="3600" dirty="0">
              <a:solidFill>
                <a:schemeClr val="bg1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012371" y="1378530"/>
            <a:ext cx="7500258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d-ID" sz="1400" dirty="0"/>
              <a:t>&lt;html&gt; </a:t>
            </a:r>
          </a:p>
          <a:p>
            <a:r>
              <a:rPr lang="en-US" sz="1400" dirty="0"/>
              <a:t>&lt;head&gt;&lt;title&gt;</a:t>
            </a:r>
            <a:r>
              <a:rPr lang="en-US" sz="1400" dirty="0" err="1"/>
              <a:t>Latihan</a:t>
            </a:r>
            <a:r>
              <a:rPr lang="en-US" sz="1400" dirty="0"/>
              <a:t> </a:t>
            </a:r>
            <a:r>
              <a:rPr lang="en-US" sz="1400" dirty="0" err="1"/>
              <a:t>Pembuatan</a:t>
            </a:r>
            <a:r>
              <a:rPr lang="en-US" sz="1400" dirty="0"/>
              <a:t> Form&lt;/title&gt;&lt;/head&gt; </a:t>
            </a:r>
          </a:p>
          <a:p>
            <a:r>
              <a:rPr lang="id-ID" sz="1400" dirty="0"/>
              <a:t>&lt;body&gt; </a:t>
            </a:r>
          </a:p>
          <a:p>
            <a:r>
              <a:rPr lang="fi-FI" sz="1400" dirty="0"/>
              <a:t>&lt;!--NIM, NAMA, JENIS KELAMIN, AGAMA, STATUS, JURUSAN, KOMENTAR.--&gt; </a:t>
            </a:r>
          </a:p>
          <a:p>
            <a:r>
              <a:rPr lang="id-ID" sz="1400" dirty="0"/>
              <a:t>&lt;form&gt; </a:t>
            </a:r>
          </a:p>
          <a:p>
            <a:r>
              <a:rPr lang="pt-BR" sz="1400" dirty="0"/>
              <a:t>&lt;H1&gt; Form Pendaftaran&lt;/H1&gt;&lt;hr&gt; </a:t>
            </a:r>
          </a:p>
          <a:p>
            <a:r>
              <a:rPr lang="id-ID" sz="1400" dirty="0"/>
              <a:t>&lt;PRE&gt; </a:t>
            </a:r>
          </a:p>
          <a:p>
            <a:r>
              <a:rPr lang="en-US" sz="1400" dirty="0"/>
              <a:t>NIM : &lt;input type="text" size="11" name="</a:t>
            </a:r>
            <a:r>
              <a:rPr lang="en-US" sz="1400" dirty="0" err="1"/>
              <a:t>nim</a:t>
            </a:r>
            <a:r>
              <a:rPr lang="en-US" sz="1400" dirty="0"/>
              <a:t>"&gt; </a:t>
            </a:r>
          </a:p>
          <a:p>
            <a:r>
              <a:rPr lang="en-US" sz="1400" dirty="0"/>
              <a:t>NAMA : &lt;input type="text" size="25" name="</a:t>
            </a:r>
            <a:r>
              <a:rPr lang="en-US" sz="1400" dirty="0" err="1"/>
              <a:t>nama</a:t>
            </a:r>
            <a:r>
              <a:rPr lang="en-US" sz="1400" dirty="0"/>
              <a:t>"&gt; </a:t>
            </a:r>
          </a:p>
          <a:p>
            <a:r>
              <a:rPr lang="id-ID" sz="1400" dirty="0"/>
              <a:t>JENIS KELAMIN : &lt;input type="radio" name="jkel" value="Pria"&gt;Pria &lt;input</a:t>
            </a:r>
          </a:p>
          <a:p>
            <a:r>
              <a:rPr lang="en-US" sz="1400" dirty="0"/>
              <a:t>type="radio" name="</a:t>
            </a:r>
            <a:r>
              <a:rPr lang="en-US" sz="1400" dirty="0" err="1"/>
              <a:t>jkel</a:t>
            </a:r>
            <a:r>
              <a:rPr lang="en-US" sz="1400" dirty="0"/>
              <a:t>" value="</a:t>
            </a:r>
            <a:r>
              <a:rPr lang="en-US" sz="1400" dirty="0" err="1"/>
              <a:t>Wanita</a:t>
            </a:r>
            <a:r>
              <a:rPr lang="en-US" sz="1400" dirty="0"/>
              <a:t>"&gt;</a:t>
            </a:r>
            <a:r>
              <a:rPr lang="en-US" sz="1400" dirty="0" err="1"/>
              <a:t>Wanita</a:t>
            </a:r>
            <a:r>
              <a:rPr lang="en-US" sz="1400" dirty="0"/>
              <a:t> </a:t>
            </a:r>
          </a:p>
          <a:p>
            <a:r>
              <a:rPr lang="id-ID" sz="1400" dirty="0"/>
              <a:t>AGAMA : &lt;select name=agama&gt; </a:t>
            </a:r>
            <a:endParaRPr lang="id-ID" sz="1400" dirty="0" smtClean="0"/>
          </a:p>
          <a:p>
            <a:r>
              <a:rPr lang="id-ID" sz="1400" dirty="0"/>
              <a:t> &lt;option value="Islam"&gt;Islam&lt;/option&gt; </a:t>
            </a:r>
          </a:p>
          <a:p>
            <a:r>
              <a:rPr lang="id-ID" sz="1400" dirty="0"/>
              <a:t>     &lt;option value="Katoholik"&gt;Katholik&lt;/option&gt; </a:t>
            </a:r>
          </a:p>
          <a:p>
            <a:r>
              <a:rPr lang="id-ID" sz="1400" dirty="0"/>
              <a:t>     &lt;option value="Kristen"&gt;Kristen&lt;/option&gt; </a:t>
            </a:r>
          </a:p>
          <a:p>
            <a:r>
              <a:rPr lang="id-ID" sz="1400" dirty="0"/>
              <a:t>     &lt;option value="Hindu"&gt;Hindu&lt;/option&gt; </a:t>
            </a:r>
          </a:p>
          <a:p>
            <a:r>
              <a:rPr lang="en-US" sz="1400" dirty="0"/>
              <a:t>     &lt;option value="</a:t>
            </a:r>
            <a:r>
              <a:rPr lang="en-US" sz="1400" dirty="0" err="1"/>
              <a:t>Budha</a:t>
            </a:r>
            <a:r>
              <a:rPr lang="en-US" sz="1400" dirty="0"/>
              <a:t>"&gt;</a:t>
            </a:r>
            <a:r>
              <a:rPr lang="en-US" sz="1400" dirty="0" err="1"/>
              <a:t>Budha</a:t>
            </a:r>
            <a:r>
              <a:rPr lang="en-US" sz="1400" dirty="0"/>
              <a:t>&lt;/option&gt; </a:t>
            </a:r>
          </a:p>
          <a:p>
            <a:r>
              <a:rPr lang="id-ID" sz="1400" dirty="0"/>
              <a:t>    &lt;/select&gt; </a:t>
            </a:r>
          </a:p>
          <a:p>
            <a:r>
              <a:rPr lang="en-US" sz="1400" dirty="0"/>
              <a:t>STATUS : &lt;input type="radio" name="status" value="</a:t>
            </a:r>
            <a:r>
              <a:rPr lang="en-US" sz="1400" dirty="0" err="1"/>
              <a:t>kawin</a:t>
            </a:r>
            <a:r>
              <a:rPr lang="en-US" sz="1400" dirty="0"/>
              <a:t>"&gt;</a:t>
            </a:r>
            <a:r>
              <a:rPr lang="en-US" sz="1400" dirty="0" err="1"/>
              <a:t>Kawin</a:t>
            </a:r>
            <a:r>
              <a:rPr lang="en-US" sz="1400" dirty="0"/>
              <a:t> &lt;input</a:t>
            </a:r>
          </a:p>
          <a:p>
            <a:r>
              <a:rPr lang="id-ID" sz="1400" dirty="0"/>
              <a:t>type="radio" name="status" value="belumkawin"&gt;Belum Kawin </a:t>
            </a:r>
          </a:p>
        </p:txBody>
      </p:sp>
    </p:spTree>
    <p:extLst>
      <p:ext uri="{BB962C8B-B14F-4D97-AF65-F5344CB8AC3E}">
        <p14:creationId xmlns:p14="http://schemas.microsoft.com/office/powerpoint/2010/main" val="40741127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115781" y="921099"/>
            <a:ext cx="7146471" cy="46166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 smtClean="0"/>
              <a:t>JURUSAN </a:t>
            </a:r>
            <a:r>
              <a:rPr lang="en-US" sz="1400" dirty="0"/>
              <a:t>:  &lt;select name="</a:t>
            </a:r>
            <a:r>
              <a:rPr lang="en-US" sz="1400" dirty="0" err="1"/>
              <a:t>jurusan</a:t>
            </a:r>
            <a:r>
              <a:rPr lang="en-US" sz="1400" dirty="0"/>
              <a:t>" Size="1"&gt; </a:t>
            </a:r>
          </a:p>
          <a:p>
            <a:r>
              <a:rPr lang="id-ID" sz="1400" dirty="0"/>
              <a:t>       &lt;option value ="Teknik Informatika"&gt; Teknik Informatika &lt;/option&gt; </a:t>
            </a:r>
          </a:p>
          <a:p>
            <a:r>
              <a:rPr lang="id-ID" sz="1400" dirty="0"/>
              <a:t>       &lt;option value ="Manajemen Informatika"&gt; Manajemen Informatika</a:t>
            </a:r>
          </a:p>
          <a:p>
            <a:r>
              <a:rPr lang="id-ID" sz="1400" dirty="0"/>
              <a:t>&lt;/option&gt; </a:t>
            </a:r>
          </a:p>
          <a:p>
            <a:r>
              <a:rPr lang="da-DK" sz="1400" dirty="0"/>
              <a:t>       &lt;option value ="Teknik Komputer"&gt; Teknik Komputer &lt;/option&gt; </a:t>
            </a:r>
          </a:p>
          <a:p>
            <a:r>
              <a:rPr lang="da-DK" sz="1400" dirty="0"/>
              <a:t>       &lt;option value ="Teknik Industri"&gt; Teknik Industri &lt;/option&gt; </a:t>
            </a:r>
          </a:p>
          <a:p>
            <a:r>
              <a:rPr lang="id-ID" sz="1400" dirty="0"/>
              <a:t>     &lt;/select&gt;  </a:t>
            </a:r>
          </a:p>
          <a:p>
            <a:endParaRPr lang="id-ID" sz="1400" dirty="0" smtClean="0"/>
          </a:p>
          <a:p>
            <a:r>
              <a:rPr lang="en-US" sz="1400" dirty="0" err="1" smtClean="0"/>
              <a:t>Hoby</a:t>
            </a:r>
            <a:r>
              <a:rPr lang="en-US" sz="1400" dirty="0" smtClean="0"/>
              <a:t> </a:t>
            </a:r>
            <a:r>
              <a:rPr lang="en-US" sz="1400" dirty="0"/>
              <a:t>: &lt;input type="checkbox" name="</a:t>
            </a:r>
            <a:r>
              <a:rPr lang="en-US" sz="1400" dirty="0" err="1"/>
              <a:t>hoby</a:t>
            </a:r>
            <a:r>
              <a:rPr lang="en-US" sz="1400" dirty="0"/>
              <a:t>" value="Futsal"&gt;Futsal  &lt;input</a:t>
            </a:r>
          </a:p>
          <a:p>
            <a:r>
              <a:rPr lang="en-US" sz="1400" dirty="0"/>
              <a:t>type="checkbox" name="</a:t>
            </a:r>
            <a:r>
              <a:rPr lang="en-US" sz="1400" dirty="0" err="1"/>
              <a:t>hoby</a:t>
            </a:r>
            <a:r>
              <a:rPr lang="en-US" sz="1400" dirty="0"/>
              <a:t>" value="</a:t>
            </a:r>
            <a:r>
              <a:rPr lang="en-US" sz="1400" dirty="0" err="1"/>
              <a:t>Renang</a:t>
            </a:r>
            <a:r>
              <a:rPr lang="en-US" sz="1400" dirty="0"/>
              <a:t>"&gt;</a:t>
            </a:r>
            <a:r>
              <a:rPr lang="en-US" sz="1400" dirty="0" err="1"/>
              <a:t>Renang</a:t>
            </a:r>
            <a:r>
              <a:rPr lang="en-US" sz="1400" dirty="0"/>
              <a:t>  &lt;input</a:t>
            </a:r>
          </a:p>
          <a:p>
            <a:r>
              <a:rPr lang="en-US" sz="1400" dirty="0"/>
              <a:t>type="checkbox" name="</a:t>
            </a:r>
            <a:r>
              <a:rPr lang="en-US" sz="1400" dirty="0" err="1"/>
              <a:t>hoby</a:t>
            </a:r>
            <a:r>
              <a:rPr lang="en-US" sz="1400" dirty="0"/>
              <a:t>" value="Traveling"&gt;</a:t>
            </a:r>
            <a:r>
              <a:rPr lang="en-US" sz="1400" dirty="0" smtClean="0"/>
              <a:t>Traveling</a:t>
            </a:r>
            <a:endParaRPr lang="id-ID" sz="1400" dirty="0" smtClean="0"/>
          </a:p>
          <a:p>
            <a:endParaRPr lang="id-ID" sz="1400" dirty="0" smtClean="0"/>
          </a:p>
          <a:p>
            <a:r>
              <a:rPr lang="id-ID" sz="1400" dirty="0" smtClean="0"/>
              <a:t>KETERANGAN</a:t>
            </a:r>
            <a:r>
              <a:rPr lang="id-ID" sz="1400" dirty="0"/>
              <a:t>: </a:t>
            </a:r>
          </a:p>
          <a:p>
            <a:r>
              <a:rPr lang="en-US" sz="1400" dirty="0"/>
              <a:t> &lt;</a:t>
            </a:r>
            <a:r>
              <a:rPr lang="en-US" sz="1400" dirty="0" err="1"/>
              <a:t>textarea</a:t>
            </a:r>
            <a:r>
              <a:rPr lang="en-US" sz="1400" dirty="0"/>
              <a:t> name="</a:t>
            </a:r>
            <a:r>
              <a:rPr lang="en-US" sz="1400" dirty="0" err="1"/>
              <a:t>ket</a:t>
            </a:r>
            <a:r>
              <a:rPr lang="en-US" sz="1400" dirty="0"/>
              <a:t>" rows="3" cols="30"&gt;&lt;/</a:t>
            </a:r>
            <a:r>
              <a:rPr lang="en-US" sz="1400" dirty="0" err="1"/>
              <a:t>textarea</a:t>
            </a:r>
            <a:r>
              <a:rPr lang="en-US" sz="1400" dirty="0"/>
              <a:t>&gt; </a:t>
            </a:r>
          </a:p>
          <a:p>
            <a:r>
              <a:rPr lang="id-ID" sz="1400" dirty="0"/>
              <a:t>&lt;/PRE&gt; </a:t>
            </a:r>
          </a:p>
          <a:p>
            <a:r>
              <a:rPr lang="id-ID" sz="1400" dirty="0"/>
              <a:t>&lt;BR</a:t>
            </a:r>
            <a:r>
              <a:rPr lang="id-ID" sz="1400" dirty="0" smtClean="0"/>
              <a:t>&gt;</a:t>
            </a:r>
          </a:p>
          <a:p>
            <a:r>
              <a:rPr lang="en-US" sz="1400" dirty="0"/>
              <a:t>&lt;input type="submit" value="</a:t>
            </a:r>
            <a:r>
              <a:rPr lang="en-US" sz="1400" dirty="0" err="1"/>
              <a:t>kirim</a:t>
            </a:r>
            <a:r>
              <a:rPr lang="en-US" sz="1400" dirty="0"/>
              <a:t>"&gt; </a:t>
            </a:r>
          </a:p>
          <a:p>
            <a:r>
              <a:rPr lang="id-ID" sz="1400" dirty="0"/>
              <a:t>&lt;input type="reset" value="ulang"&gt; </a:t>
            </a:r>
          </a:p>
          <a:p>
            <a:r>
              <a:rPr lang="id-ID" sz="1400" dirty="0"/>
              <a:t>&lt;/form&gt; </a:t>
            </a:r>
          </a:p>
          <a:p>
            <a:r>
              <a:rPr lang="id-ID" sz="1400" dirty="0"/>
              <a:t>&lt;/body&gt; </a:t>
            </a:r>
          </a:p>
          <a:p>
            <a:r>
              <a:rPr lang="id-ID" sz="1400" dirty="0"/>
              <a:t>&lt;/html</a:t>
            </a:r>
            <a:r>
              <a:rPr lang="id-ID" sz="1400" dirty="0" smtClean="0"/>
              <a:t>&gt;</a:t>
            </a:r>
            <a:endParaRPr lang="id-ID" sz="1400" dirty="0"/>
          </a:p>
        </p:txBody>
      </p:sp>
    </p:spTree>
    <p:extLst>
      <p:ext uri="{BB962C8B-B14F-4D97-AF65-F5344CB8AC3E}">
        <p14:creationId xmlns:p14="http://schemas.microsoft.com/office/powerpoint/2010/main" val="36058541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0365" y="951216"/>
            <a:ext cx="5543777" cy="504438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Rectangle 2"/>
          <p:cNvSpPr/>
          <p:nvPr/>
        </p:nvSpPr>
        <p:spPr>
          <a:xfrm>
            <a:off x="263263" y="230818"/>
            <a:ext cx="527580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id-ID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dobe Ming Std L" pitchFamily="18" charset="-128"/>
                <a:ea typeface="Adobe Ming Std L" pitchFamily="18" charset="-128"/>
              </a:rPr>
              <a:t>HASIL TAMPILAN pada BROWSER</a:t>
            </a:r>
            <a:endParaRPr lang="id-ID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dobe Ming Std L" pitchFamily="18" charset="-128"/>
              <a:ea typeface="Adobe Ming Std L" pitchFamily="18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9359056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691025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2807D5B0-CAF7-45A2-B0D1-E8315A4FC9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5166663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C8BBBC7-7D6D-4A56-8061-F6B2DFE2A9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3135" y="765818"/>
            <a:ext cx="10515600" cy="1325563"/>
          </a:xfrm>
        </p:spPr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298398991"/>
      </p:ext>
    </p:extLst>
  </p:cSld>
  <p:clrMapOvr>
    <a:masterClrMapping/>
  </p:clrMapOvr>
</p:sld>
</file>

<file path=ppt/theme/theme1.xml><?xml version="1.0" encoding="utf-8"?>
<a:theme xmlns:a="http://schemas.openxmlformats.org/drawingml/2006/main" name="6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7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4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5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1881</TotalTime>
  <Words>739</Words>
  <Application>Microsoft Office PowerPoint</Application>
  <PresentationFormat>Custom</PresentationFormat>
  <Paragraphs>93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8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6_Office Theme</vt:lpstr>
      <vt:lpstr>7_Office Theme</vt:lpstr>
      <vt:lpstr>4_Office Theme</vt:lpstr>
      <vt:lpstr>3_Office Theme</vt:lpstr>
      <vt:lpstr>2_Office Theme</vt:lpstr>
      <vt:lpstr>Office Theme</vt:lpstr>
      <vt:lpstr>5_Office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lisda masitoh</dc:creator>
  <cp:lastModifiedBy>san</cp:lastModifiedBy>
  <cp:revision>23</cp:revision>
  <dcterms:created xsi:type="dcterms:W3CDTF">2021-08-16T10:58:02Z</dcterms:created>
  <dcterms:modified xsi:type="dcterms:W3CDTF">2021-08-30T01:20:10Z</dcterms:modified>
</cp:coreProperties>
</file>