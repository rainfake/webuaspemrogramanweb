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74" r:id="rId15"/>
    <p:sldId id="264" r:id="rId16"/>
    <p:sldId id="265" r:id="rId17"/>
    <p:sldId id="267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0" r="20284"/>
          <a:stretch/>
        </p:blipFill>
        <p:spPr bwMode="auto">
          <a:xfrm>
            <a:off x="0" y="3531588"/>
            <a:ext cx="3410588" cy="269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  <p:sp>
        <p:nvSpPr>
          <p:cNvPr id="5" name="Rectangle 4"/>
          <p:cNvSpPr/>
          <p:nvPr/>
        </p:nvSpPr>
        <p:spPr>
          <a:xfrm>
            <a:off x="2997421" y="2614138"/>
            <a:ext cx="58336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PENGENALAN </a:t>
            </a:r>
            <a:r>
              <a:rPr lang="id-ID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WEB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0" r="20284"/>
          <a:stretch/>
        </p:blipFill>
        <p:spPr bwMode="auto">
          <a:xfrm>
            <a:off x="87086" y="159592"/>
            <a:ext cx="1698171" cy="1341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533400" y="1532108"/>
            <a:ext cx="1108165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 smtClean="0"/>
              <a:t>WWW</a:t>
            </a:r>
            <a:r>
              <a:rPr lang="id-ID" dirty="0"/>
              <a:t> </a:t>
            </a:r>
            <a:r>
              <a:rPr lang="id-ID" dirty="0" smtClean="0"/>
              <a:t>(world wide web)</a:t>
            </a:r>
            <a:r>
              <a:rPr lang="id-ID" dirty="0" smtClean="0"/>
              <a:t>, </a:t>
            </a:r>
            <a:r>
              <a:rPr lang="id-ID" dirty="0"/>
              <a:t>merupakan kumpulan web diseluruh dunia  </a:t>
            </a:r>
            <a:r>
              <a:rPr lang="id-ID" dirty="0" smtClean="0"/>
              <a:t>yang memberikan </a:t>
            </a:r>
            <a:r>
              <a:rPr lang="id-ID" dirty="0"/>
              <a:t>layanan kepada pengguna untuk dapat mengakses atau </a:t>
            </a:r>
            <a:r>
              <a:rPr lang="id-ID" dirty="0" smtClean="0"/>
              <a:t>memperoleh informasi  </a:t>
            </a:r>
            <a:r>
              <a:rPr lang="id-ID" dirty="0"/>
              <a:t>melalui  halaman web atau situs yang diinginkan. </a:t>
            </a:r>
            <a:endParaRPr lang="id-ID" dirty="0" smtClean="0"/>
          </a:p>
          <a:p>
            <a:pPr algn="just">
              <a:lnSpc>
                <a:spcPct val="150000"/>
              </a:lnSpc>
            </a:pPr>
            <a:r>
              <a:rPr lang="id-ID" dirty="0" smtClean="0"/>
              <a:t>Internet </a:t>
            </a:r>
            <a:r>
              <a:rPr lang="id-ID" dirty="0" smtClean="0"/>
              <a:t>memberi akses </a:t>
            </a:r>
            <a:r>
              <a:rPr lang="id-ID" dirty="0"/>
              <a:t>pengguna ke sejumlah besar dokumen yang ditautkan satu sama lain </a:t>
            </a:r>
            <a:r>
              <a:rPr lang="id-ID" dirty="0" smtClean="0"/>
              <a:t>melalui </a:t>
            </a:r>
            <a:r>
              <a:rPr lang="sv-SE" dirty="0" smtClean="0"/>
              <a:t>tautan </a:t>
            </a:r>
            <a:r>
              <a:rPr lang="sv-SE" dirty="0"/>
              <a:t>hypertext atau hypermedia misalnya, hyperlink tautan elektronik </a:t>
            </a:r>
            <a:r>
              <a:rPr lang="sv-SE" dirty="0" smtClean="0"/>
              <a:t>yang</a:t>
            </a:r>
            <a:r>
              <a:rPr lang="id-ID" dirty="0" smtClean="0"/>
              <a:t> </a:t>
            </a:r>
            <a:r>
              <a:rPr lang="nn-NO" dirty="0" smtClean="0"/>
              <a:t>menghubungkan </a:t>
            </a:r>
            <a:r>
              <a:rPr lang="nn-NO" dirty="0"/>
              <a:t>potongan informasi terkait untuk memberi pengguna akses </a:t>
            </a:r>
            <a:r>
              <a:rPr lang="nn-NO" dirty="0" smtClean="0"/>
              <a:t>mudah</a:t>
            </a:r>
            <a:r>
              <a:rPr lang="id-ID" dirty="0" smtClean="0"/>
              <a:t> ke </a:t>
            </a:r>
            <a:r>
              <a:rPr lang="id-ID" dirty="0"/>
              <a:t>sana</a:t>
            </a:r>
            <a:r>
              <a:rPr lang="id-ID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id-ID" dirty="0" smtClean="0"/>
              <a:t>Hypertext </a:t>
            </a:r>
            <a:r>
              <a:rPr lang="id-ID" dirty="0"/>
              <a:t>memungkinkan pengguna untuk menghubungkan kata </a:t>
            </a:r>
            <a:r>
              <a:rPr lang="id-ID" dirty="0" smtClean="0"/>
              <a:t>atau </a:t>
            </a:r>
            <a:r>
              <a:rPr lang="nn-NO" dirty="0" smtClean="0"/>
              <a:t>frasa </a:t>
            </a:r>
            <a:r>
              <a:rPr lang="nn-NO" dirty="0"/>
              <a:t>dari teks untuk  mengakses dokumen lain yang berisi informasi </a:t>
            </a:r>
            <a:r>
              <a:rPr lang="nn-NO" dirty="0" smtClean="0"/>
              <a:t>tambahan</a:t>
            </a:r>
            <a:r>
              <a:rPr lang="id-ID" dirty="0" smtClean="0"/>
              <a:t> terkait </a:t>
            </a:r>
            <a:r>
              <a:rPr lang="id-ID" dirty="0"/>
              <a:t>dengan kata atau frasa tersebut</a:t>
            </a:r>
            <a:r>
              <a:rPr lang="id-ID" dirty="0" smtClean="0"/>
              <a:t>.</a:t>
            </a:r>
            <a:endParaRPr lang="id-ID" i="1" dirty="0"/>
          </a:p>
        </p:txBody>
      </p:sp>
      <p:sp>
        <p:nvSpPr>
          <p:cNvPr id="2" name="TextBox 1"/>
          <p:cNvSpPr txBox="1"/>
          <p:nvPr/>
        </p:nvSpPr>
        <p:spPr>
          <a:xfrm>
            <a:off x="1872343" y="694130"/>
            <a:ext cx="3735318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sz="3600" dirty="0"/>
              <a:t>World Wide Web</a:t>
            </a:r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ud 2"/>
          <p:cNvSpPr/>
          <p:nvPr/>
        </p:nvSpPr>
        <p:spPr>
          <a:xfrm>
            <a:off x="2184386" y="1371603"/>
            <a:ext cx="2971800" cy="1579611"/>
          </a:xfrm>
          <a:prstGeom prst="cloud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Cloud 3"/>
          <p:cNvSpPr/>
          <p:nvPr/>
        </p:nvSpPr>
        <p:spPr>
          <a:xfrm rot="11449959">
            <a:off x="6647530" y="2853240"/>
            <a:ext cx="3810000" cy="2057400"/>
          </a:xfrm>
          <a:prstGeom prst="cloud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5" name="Straight Connector 4"/>
          <p:cNvCxnSpPr/>
          <p:nvPr/>
        </p:nvCxnSpPr>
        <p:spPr>
          <a:xfrm>
            <a:off x="1923130" y="5367840"/>
            <a:ext cx="3352800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647530" y="5367840"/>
            <a:ext cx="3810000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77834" y="5424991"/>
            <a:ext cx="105509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</a:t>
            </a:r>
            <a:endParaRPr lang="id-ID" sz="2400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5331" y="5424991"/>
            <a:ext cx="113101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id-ID" sz="2400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894930" y="2681790"/>
            <a:ext cx="1905000" cy="74295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275930" y="2396040"/>
            <a:ext cx="1908641" cy="76081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n 10"/>
          <p:cNvSpPr/>
          <p:nvPr/>
        </p:nvSpPr>
        <p:spPr>
          <a:xfrm>
            <a:off x="7567926" y="3414589"/>
            <a:ext cx="1137008" cy="1140278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Can 11"/>
          <p:cNvSpPr/>
          <p:nvPr/>
        </p:nvSpPr>
        <p:spPr>
          <a:xfrm>
            <a:off x="8787122" y="3427463"/>
            <a:ext cx="1137008" cy="1140278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Parallelogram 12"/>
          <p:cNvSpPr/>
          <p:nvPr/>
        </p:nvSpPr>
        <p:spPr>
          <a:xfrm>
            <a:off x="2761330" y="1881690"/>
            <a:ext cx="1828800" cy="514350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Web Browser</a:t>
            </a:r>
            <a:endParaRPr lang="id-ID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3523330" y="2396040"/>
            <a:ext cx="0" cy="200025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04330" y="2396040"/>
            <a:ext cx="0" cy="20193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7" descr="D:\Universitas Pamulang\Semester Genap 2019-2020\Pemrograman Web 2\Gambar\anime-naruto-png-4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9" r="22532"/>
          <a:stretch/>
        </p:blipFill>
        <p:spPr bwMode="auto">
          <a:xfrm flipH="1">
            <a:off x="638615" y="3716355"/>
            <a:ext cx="1371599" cy="1702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D:\Universitas Pamulang\Semester Genap 2019-2020\Pemrograman Web 2\Gambar\contoh-hardware-kompu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188" y="4109827"/>
            <a:ext cx="1841742" cy="11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 rot="1205064">
            <a:off x="5044959" y="3058926"/>
            <a:ext cx="162486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id-ID" dirty="0" smtClean="0">
                <a:solidFill>
                  <a:sysClr val="windowText" lastClr="000000"/>
                </a:solidFill>
              </a:rPr>
              <a:t>HTTP Response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 rot="1340808">
            <a:off x="5335818" y="2354076"/>
            <a:ext cx="148765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id-ID" dirty="0" smtClean="0">
                <a:solidFill>
                  <a:sysClr val="windowText" lastClr="000000"/>
                </a:solidFill>
              </a:rPr>
              <a:t>HTTP Request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82480" y="4927171"/>
            <a:ext cx="34622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d-ID" dirty="0" smtClean="0">
                <a:solidFill>
                  <a:sysClr val="windowText" lastClr="000000"/>
                </a:solidFill>
              </a:rPr>
              <a:t>Linux / Windows OS</a:t>
            </a:r>
            <a:endParaRPr lang="id-ID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71110" y="3734746"/>
            <a:ext cx="948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b="1" dirty="0" smtClean="0"/>
              <a:t>APACHE</a:t>
            </a:r>
            <a:endParaRPr lang="id-ID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883155" y="400665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b="1" dirty="0" smtClean="0"/>
              <a:t>PHP</a:t>
            </a:r>
            <a:endParaRPr lang="id-ID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921734" y="388730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b="1" dirty="0" smtClean="0"/>
              <a:t>My SQL</a:t>
            </a:r>
            <a:endParaRPr lang="id-ID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877901" y="4415340"/>
            <a:ext cx="1155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600" b="1" dirty="0" smtClean="0"/>
              <a:t>WINDOWS </a:t>
            </a:r>
          </a:p>
          <a:p>
            <a:pPr algn="ctr"/>
            <a:r>
              <a:rPr lang="id-ID" sz="1600" b="1" dirty="0" smtClean="0"/>
              <a:t>OS</a:t>
            </a:r>
            <a:endParaRPr lang="id-ID" sz="1600" b="1" dirty="0"/>
          </a:p>
        </p:txBody>
      </p:sp>
      <p:sp>
        <p:nvSpPr>
          <p:cNvPr id="25" name="Rectangle 24"/>
          <p:cNvSpPr/>
          <p:nvPr/>
        </p:nvSpPr>
        <p:spPr>
          <a:xfrm>
            <a:off x="514085" y="196319"/>
            <a:ext cx="3505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Mekanisme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kerja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 Wide Web</a:t>
            </a:r>
            <a:endParaRPr lang="id-ID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085" y="1382604"/>
            <a:ext cx="112884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i="1" dirty="0"/>
              <a:t>HyperText Transmission Protocol (HTTP</a:t>
            </a:r>
            <a:r>
              <a:rPr lang="id-ID" i="1" dirty="0"/>
              <a:t>) </a:t>
            </a:r>
            <a:r>
              <a:rPr lang="id-ID" i="1" dirty="0" smtClean="0"/>
              <a:t>: </a:t>
            </a:r>
          </a:p>
          <a:p>
            <a:pPr algn="just"/>
            <a:r>
              <a:rPr lang="id-ID" i="1" dirty="0" smtClean="0"/>
              <a:t>protokol </a:t>
            </a:r>
            <a:r>
              <a:rPr lang="id-ID" i="1" dirty="0"/>
              <a:t>komunikasi </a:t>
            </a:r>
            <a:r>
              <a:rPr lang="id-ID" i="1" dirty="0" smtClean="0"/>
              <a:t>yang </a:t>
            </a:r>
            <a:r>
              <a:rPr lang="id-ID" dirty="0" smtClean="0"/>
              <a:t>digunakan </a:t>
            </a:r>
            <a:r>
              <a:rPr lang="id-ID" dirty="0"/>
              <a:t>untuk menghubungkan server Internet ke Internet atau ke </a:t>
            </a:r>
            <a:r>
              <a:rPr lang="id-ID" dirty="0" smtClean="0"/>
              <a:t>jaringan area </a:t>
            </a:r>
            <a:r>
              <a:rPr lang="id-ID" dirty="0"/>
              <a:t>lokal (intranet). </a:t>
            </a:r>
            <a:endParaRPr lang="id-ID" dirty="0" smtClean="0"/>
          </a:p>
          <a:p>
            <a:pPr algn="just"/>
            <a:endParaRPr lang="id-ID" dirty="0"/>
          </a:p>
          <a:p>
            <a:pPr algn="just"/>
            <a:r>
              <a:rPr lang="id-ID" dirty="0" smtClean="0"/>
              <a:t>Fungsi utama HTTP : </a:t>
            </a:r>
            <a:r>
              <a:rPr lang="id-ID" dirty="0"/>
              <a:t>adalah untuk terhubung ke </a:t>
            </a:r>
            <a:r>
              <a:rPr lang="id-ID" i="1" dirty="0"/>
              <a:t>server </a:t>
            </a:r>
            <a:r>
              <a:rPr lang="id-ID" i="1" dirty="0" smtClean="0"/>
              <a:t>dan </a:t>
            </a:r>
            <a:r>
              <a:rPr lang="id-ID" dirty="0" smtClean="0"/>
              <a:t>mengirim </a:t>
            </a:r>
            <a:r>
              <a:rPr lang="id-ID" dirty="0"/>
              <a:t>halaman HTML ke browser pengguna atau </a:t>
            </a:r>
            <a:r>
              <a:rPr lang="id-ID" i="1" dirty="0"/>
              <a:t>client. Selain itu dapat </a:t>
            </a:r>
            <a:r>
              <a:rPr lang="id-ID" i="1" dirty="0" smtClean="0"/>
              <a:t>juga </a:t>
            </a:r>
            <a:r>
              <a:rPr lang="id-ID" dirty="0" smtClean="0"/>
              <a:t>digunakan </a:t>
            </a:r>
            <a:r>
              <a:rPr lang="id-ID" dirty="0"/>
              <a:t>untuk mengunduh file dari server ke browser, atau aplikasi lain yang </a:t>
            </a:r>
            <a:r>
              <a:rPr lang="id-ID" dirty="0" smtClean="0"/>
              <a:t>diminta </a:t>
            </a:r>
            <a:r>
              <a:rPr lang="id-ID" dirty="0"/>
              <a:t>yang menggunakan HTTP.</a:t>
            </a:r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lur Kerja Dom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746" y="1347342"/>
            <a:ext cx="8943975" cy="438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6347" y="174562"/>
            <a:ext cx="1968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latin typeface="Adobe Gothic Std B" pitchFamily="34" charset="-128"/>
                <a:ea typeface="Adobe Gothic Std B" pitchFamily="34" charset="-128"/>
              </a:rPr>
              <a:t>WEB SERVER</a:t>
            </a:r>
            <a:endParaRPr lang="id-ID" sz="2400" dirty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4610" y="1339344"/>
            <a:ext cx="11273169" cy="13388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 smtClean="0"/>
              <a:t>Server </a:t>
            </a:r>
            <a:r>
              <a:rPr lang="id-ID" dirty="0"/>
              <a:t>web adalah komputer </a:t>
            </a:r>
            <a:r>
              <a:rPr lang="id-ID" dirty="0" smtClean="0"/>
              <a:t>yang </a:t>
            </a:r>
            <a:r>
              <a:rPr lang="id-ID" dirty="0"/>
              <a:t>menyimpan perangkat lunak server web dan file komponen situs web (mis</a:t>
            </a:r>
            <a:r>
              <a:rPr lang="id-ID" dirty="0" smtClean="0"/>
              <a:t>. Dokumen </a:t>
            </a:r>
            <a:r>
              <a:rPr lang="id-ID" dirty="0"/>
              <a:t>HTML, gambar, stylesheet CSS, dan file JavaScript). Ini terhubung </a:t>
            </a:r>
            <a:r>
              <a:rPr lang="id-ID" dirty="0" smtClean="0"/>
              <a:t>ke Internet </a:t>
            </a:r>
            <a:r>
              <a:rPr lang="id-ID" dirty="0"/>
              <a:t>dan mendukung pertukaran data fisik dengan perangkat lain </a:t>
            </a:r>
            <a:r>
              <a:rPr lang="id-ID" dirty="0" smtClean="0"/>
              <a:t>yang terhubung </a:t>
            </a:r>
            <a:r>
              <a:rPr lang="id-ID" dirty="0"/>
              <a:t>ke web.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386347" y="3535773"/>
            <a:ext cx="11357634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 smtClean="0"/>
              <a:t>Server </a:t>
            </a:r>
            <a:r>
              <a:rPr lang="id-ID" dirty="0"/>
              <a:t>web </a:t>
            </a:r>
            <a:r>
              <a:rPr lang="id-ID" dirty="0" smtClean="0"/>
              <a:t>adalah beberapa bagian </a:t>
            </a:r>
            <a:r>
              <a:rPr lang="id-ID" dirty="0"/>
              <a:t>yang mengontrol cara pengguna web mengakses file yang di-host, </a:t>
            </a:r>
            <a:r>
              <a:rPr lang="id-ID" dirty="0" smtClean="0"/>
              <a:t>minimal server </a:t>
            </a:r>
            <a:r>
              <a:rPr lang="id-ID" dirty="0"/>
              <a:t>HTTP. Server HTTP adalah perangkat lunak yang memahami URL (</a:t>
            </a:r>
            <a:r>
              <a:rPr lang="id-ID" dirty="0" smtClean="0"/>
              <a:t>alamat web</a:t>
            </a:r>
            <a:r>
              <a:rPr lang="id-ID" dirty="0"/>
              <a:t>) dan HTTP (protokol yang digunakan browser untuk melihat halaman web). </a:t>
            </a:r>
            <a:r>
              <a:rPr lang="id-ID" dirty="0" smtClean="0"/>
              <a:t>Itu dapat </a:t>
            </a:r>
            <a:r>
              <a:rPr lang="id-ID" dirty="0"/>
              <a:t>diakses melalui nama domain (seperti mozilla.org) dari situs web </a:t>
            </a:r>
            <a:r>
              <a:rPr lang="id-ID" dirty="0" smtClean="0"/>
              <a:t>yang disimpannya</a:t>
            </a:r>
            <a:r>
              <a:rPr lang="id-ID" dirty="0"/>
              <a:t>, dan mengirimkan kontennya ke perangkat pengguna akhir.</a:t>
            </a:r>
            <a:endParaRPr lang="id-ID" dirty="0"/>
          </a:p>
        </p:txBody>
      </p:sp>
      <p:sp>
        <p:nvSpPr>
          <p:cNvPr id="9" name="TextBox 8"/>
          <p:cNvSpPr txBox="1"/>
          <p:nvPr/>
        </p:nvSpPr>
        <p:spPr>
          <a:xfrm>
            <a:off x="307522" y="3178623"/>
            <a:ext cx="1725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Perangkat Lunak</a:t>
            </a:r>
            <a:endParaRPr lang="id-ID" dirty="0"/>
          </a:p>
        </p:txBody>
      </p:sp>
      <p:sp>
        <p:nvSpPr>
          <p:cNvPr id="10" name="TextBox 9"/>
          <p:cNvSpPr txBox="1"/>
          <p:nvPr/>
        </p:nvSpPr>
        <p:spPr>
          <a:xfrm>
            <a:off x="394610" y="970012"/>
            <a:ext cx="1676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Perangkat Keras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5975" y="163675"/>
            <a:ext cx="2898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>
                <a:latin typeface="Adobe Gothic Std B" pitchFamily="34" charset="-128"/>
                <a:ea typeface="Adobe Gothic Std B" pitchFamily="34" charset="-128"/>
              </a:rPr>
              <a:t>Fungsi server web: </a:t>
            </a:r>
          </a:p>
        </p:txBody>
      </p:sp>
      <p:sp>
        <p:nvSpPr>
          <p:cNvPr id="4" name="Rectangle 3"/>
          <p:cNvSpPr/>
          <p:nvPr/>
        </p:nvSpPr>
        <p:spPr>
          <a:xfrm>
            <a:off x="506113" y="1082537"/>
            <a:ext cx="6125138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Menyimpan dan mengamankan data situs </a:t>
            </a:r>
            <a:r>
              <a:rPr lang="id-ID" dirty="0" smtClean="0"/>
              <a:t>web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nb-NO" dirty="0"/>
              <a:t>Menyediakan akses basis data </a:t>
            </a:r>
            <a:r>
              <a:rPr lang="nb-NO" dirty="0" smtClean="0"/>
              <a:t>web</a:t>
            </a:r>
            <a:endParaRPr lang="id-ID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Melayani permintaan pengguna </a:t>
            </a:r>
            <a:r>
              <a:rPr lang="id-ID" dirty="0" smtClean="0"/>
              <a:t>akhir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Pengendalian bandwidth untuk mengatur lalu lintas </a:t>
            </a:r>
            <a:r>
              <a:rPr lang="id-ID" dirty="0" smtClean="0"/>
              <a:t>jaringan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Hosting </a:t>
            </a:r>
            <a:r>
              <a:rPr lang="id-ID" dirty="0" smtClean="0"/>
              <a:t>virtual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d-ID" dirty="0"/>
              <a:t>Skrip web sisi server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74004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1627" y="3733863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Elemen HTML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640830" y="163676"/>
            <a:ext cx="186461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5400" b="1" dirty="0" smtClean="0">
                <a:solidFill>
                  <a:schemeClr val="bg1"/>
                </a:solidFill>
              </a:rPr>
              <a:t>HTML</a:t>
            </a:r>
            <a:endParaRPr lang="id-ID" sz="54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8659" y="410319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dirty="0"/>
              <a:t>Stuktur elemen </a:t>
            </a:r>
            <a:r>
              <a:rPr lang="id-ID" dirty="0" smtClean="0"/>
              <a:t>terbagi menjadi </a:t>
            </a:r>
            <a:r>
              <a:rPr lang="id-ID" dirty="0"/>
              <a:t>2 bagian yaitu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430" y="4520372"/>
            <a:ext cx="91659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1) Elemen bagian &lt;HEAD&gt; yang berisi </a:t>
            </a:r>
            <a:r>
              <a:rPr lang="id-ID" i="1" dirty="0"/>
              <a:t>title tag, meta tag, css </a:t>
            </a:r>
            <a:r>
              <a:rPr lang="id-ID" i="1" dirty="0" smtClean="0"/>
              <a:t> code</a:t>
            </a:r>
            <a:r>
              <a:rPr lang="id-ID" i="1" dirty="0"/>
              <a:t>, dan java </a:t>
            </a:r>
            <a:r>
              <a:rPr lang="id-ID" i="1" dirty="0" smtClean="0"/>
              <a:t>script </a:t>
            </a:r>
            <a:r>
              <a:rPr lang="id-ID" i="1" dirty="0"/>
              <a:t>code.</a:t>
            </a:r>
          </a:p>
          <a:p>
            <a:pPr>
              <a:lnSpc>
                <a:spcPct val="150000"/>
              </a:lnSpc>
            </a:pPr>
            <a:r>
              <a:rPr lang="id-ID" dirty="0"/>
              <a:t>2) Elemen bagian &lt;BODY&gt; berisi semua konten dokumen </a:t>
            </a:r>
            <a:r>
              <a:rPr lang="id-ID" dirty="0" smtClean="0"/>
              <a:t>HTML. </a:t>
            </a:r>
            <a:endParaRPr lang="id-ID" dirty="0"/>
          </a:p>
        </p:txBody>
      </p:sp>
      <p:sp>
        <p:nvSpPr>
          <p:cNvPr id="8" name="Rectangle 7"/>
          <p:cNvSpPr/>
          <p:nvPr/>
        </p:nvSpPr>
        <p:spPr>
          <a:xfrm>
            <a:off x="486056" y="1572246"/>
            <a:ext cx="113884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 smtClean="0"/>
              <a:t>HTML (HyperText </a:t>
            </a:r>
            <a:r>
              <a:rPr lang="id-ID" dirty="0"/>
              <a:t>Markup </a:t>
            </a:r>
            <a:r>
              <a:rPr lang="id-ID" dirty="0" smtClean="0"/>
              <a:t>Language) adalah </a:t>
            </a:r>
            <a:r>
              <a:rPr lang="id-ID" dirty="0"/>
              <a:t>bahasa pemrograman  standar yang digunakan untuk membuat sebuah halaman web yang kemudian dapat diakses untuk menampilkan berbagai informasi di dalam </a:t>
            </a:r>
            <a:r>
              <a:rPr lang="id-ID" dirty="0" smtClean="0"/>
              <a:t>browser. </a:t>
            </a:r>
            <a:r>
              <a:rPr lang="id-ID" dirty="0"/>
              <a:t>HTML dibuat </a:t>
            </a:r>
            <a:r>
              <a:rPr lang="id-ID" dirty="0" smtClean="0"/>
              <a:t>oleh Tim Berners-Lee, seorang </a:t>
            </a:r>
            <a:r>
              <a:rPr lang="id-ID" dirty="0"/>
              <a:t>ahli fisika di lembaga penelitian CERN yang berlokasi di Swiss. Versi pertamanya dirilis pada tahun 1991, dengan 18 tag.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203" y="1406609"/>
            <a:ext cx="955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Browser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593089" y="3581150"/>
            <a:ext cx="74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Editor</a:t>
            </a:r>
            <a:endParaRPr lang="id-ID" dirty="0"/>
          </a:p>
        </p:txBody>
      </p:sp>
      <p:pic>
        <p:nvPicPr>
          <p:cNvPr id="6" name="Picture 2" descr="D:\Universitas Pamulang\Pembuatan Modul\Pemrograman Web 1\gambar\Google_Chrome-Logo.win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5" t="13675" r="25587" b="13208"/>
          <a:stretch/>
        </p:blipFill>
        <p:spPr bwMode="auto">
          <a:xfrm>
            <a:off x="861723" y="1906573"/>
            <a:ext cx="952500" cy="9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344" y="1906573"/>
            <a:ext cx="920790" cy="95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 descr="Z:\donlot\pngwing.com (3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234" y="1906573"/>
            <a:ext cx="1040559" cy="96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6" y="1906573"/>
            <a:ext cx="971873" cy="96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1" t="7333" r="29120" b="7173"/>
          <a:stretch/>
        </p:blipFill>
        <p:spPr bwMode="auto">
          <a:xfrm>
            <a:off x="5749924" y="1906347"/>
            <a:ext cx="955675" cy="983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3" y="4070225"/>
            <a:ext cx="1005384" cy="871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7" t="9238" r="20857" b="12666"/>
          <a:stretch/>
        </p:blipFill>
        <p:spPr bwMode="auto">
          <a:xfrm>
            <a:off x="1831210" y="3950483"/>
            <a:ext cx="986794" cy="991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234" y="3927350"/>
            <a:ext cx="1014764" cy="10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0624" y="363827"/>
            <a:ext cx="37112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>
                <a:latin typeface="Adobe Gothic Std B" pitchFamily="34" charset="-128"/>
                <a:ea typeface="Adobe Gothic Std B" pitchFamily="34" charset="-128"/>
              </a:defRPr>
            </a:lvl1pPr>
          </a:lstStyle>
          <a:p>
            <a:r>
              <a:rPr lang="id-ID" dirty="0"/>
              <a:t>Struktur Penulisan HTML</a:t>
            </a:r>
            <a:endParaRPr lang="id-ID" dirty="0"/>
          </a:p>
        </p:txBody>
      </p:sp>
      <p:sp>
        <p:nvSpPr>
          <p:cNvPr id="13" name="Rectangle 12"/>
          <p:cNvSpPr/>
          <p:nvPr/>
        </p:nvSpPr>
        <p:spPr>
          <a:xfrm>
            <a:off x="838200" y="1182638"/>
            <a:ext cx="4254500" cy="3785652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&lt;html&gt;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--- bagian head ---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&lt;/head&gt;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&lt;body&gt;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--- bagian body ---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&lt;/body&gt;</a:t>
            </a:r>
          </a:p>
          <a:p>
            <a:pPr>
              <a:lnSpc>
                <a:spcPct val="150000"/>
              </a:lnSpc>
            </a:pPr>
            <a:r>
              <a:rPr lang="id-ID" sz="2000" dirty="0">
                <a:latin typeface="Bodoni MT" pitchFamily="18" charset="0"/>
              </a:rPr>
              <a:t>&lt;/html&gt;</a:t>
            </a:r>
            <a:endParaRPr lang="id-ID" sz="2000" dirty="0">
              <a:latin typeface="Bodoni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90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430</Words>
  <Application>Microsoft Office PowerPoint</Application>
  <PresentationFormat>Custom</PresentationFormat>
  <Paragraphs>52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20</cp:revision>
  <dcterms:created xsi:type="dcterms:W3CDTF">2021-08-16T10:58:02Z</dcterms:created>
  <dcterms:modified xsi:type="dcterms:W3CDTF">2021-08-27T03:46:02Z</dcterms:modified>
</cp:coreProperties>
</file>