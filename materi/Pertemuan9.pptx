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6.xml" ContentType="application/vnd.openxmlformats-officedocument.theme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01" r:id="rId2"/>
    <p:sldMasterId id="2147483692" r:id="rId3"/>
    <p:sldMasterId id="2147483691" r:id="rId4"/>
    <p:sldMasterId id="2147483690" r:id="rId5"/>
    <p:sldMasterId id="2147483648" r:id="rId6"/>
    <p:sldMasterId id="2147483693" r:id="rId7"/>
    <p:sldMasterId id="2147483689" r:id="rId8"/>
  </p:sldMasterIdLst>
  <p:sldIdLst>
    <p:sldId id="258" r:id="rId9"/>
    <p:sldId id="273" r:id="rId10"/>
    <p:sldId id="261" r:id="rId11"/>
    <p:sldId id="259" r:id="rId12"/>
    <p:sldId id="262" r:id="rId13"/>
    <p:sldId id="272" r:id="rId14"/>
    <p:sldId id="264" r:id="rId15"/>
    <p:sldId id="265" r:id="rId16"/>
    <p:sldId id="267" r:id="rId17"/>
    <p:sldId id="277" r:id="rId18"/>
    <p:sldId id="274" r:id="rId19"/>
    <p:sldId id="275" r:id="rId20"/>
    <p:sldId id="276" r:id="rId21"/>
    <p:sldId id="278" r:id="rId22"/>
    <p:sldId id="269" r:id="rId23"/>
    <p:sldId id="270" r:id="rId24"/>
    <p:sldId id="27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-1410" y="-5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204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886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D6A74D-1C8D-4400-A44B-18C61420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136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4314F5-9B88-4A10-889F-F5ED679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661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9F2F78-41F6-4DBD-A49B-20619A86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3582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xmlns="" id="{198065A5-1218-4E69-9EF0-90C3C2E67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13465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618978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1FFC4A87-0CB1-45CE-9554-8F044AAE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9677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6002215" y="683288"/>
            <a:ext cx="618978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52A5D29-0C74-4DB5-80AC-205E2980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7090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2A08D90C-70B8-457C-95AE-141C49C3A3FB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121920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xmlns="" id="{ABE849F3-B6DF-4217-B464-9130928C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32110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33BEC2E1-0AD8-452E-87EC-4D9066322202}"/>
              </a:ext>
            </a:extLst>
          </p:cNvPr>
          <p:cNvSpPr/>
          <p:nvPr userDrawn="1"/>
        </p:nvSpPr>
        <p:spPr>
          <a:xfrm>
            <a:off x="0" y="0"/>
            <a:ext cx="12192000" cy="10852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2CC0ADF-8FA4-4472-9031-72E465CB4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7686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4EBE2D0A-6E5C-4A94-8EF1-D947C32EBE56}"/>
              </a:ext>
            </a:extLst>
          </p:cNvPr>
          <p:cNvSpPr/>
          <p:nvPr userDrawn="1"/>
        </p:nvSpPr>
        <p:spPr>
          <a:xfrm>
            <a:off x="0" y="80391"/>
            <a:ext cx="12192000" cy="63304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4898FCA4-6365-4601-85C8-B9BFB43B3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5764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570B6C2-5A8A-40C2-AE98-493677E13A21}"/>
              </a:ext>
            </a:extLst>
          </p:cNvPr>
          <p:cNvSpPr/>
          <p:nvPr userDrawn="1"/>
        </p:nvSpPr>
        <p:spPr>
          <a:xfrm>
            <a:off x="0" y="60292"/>
            <a:ext cx="12192000" cy="4571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10892BB0-7181-4898-96B3-7ABD572DA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6266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6C3B74E-CCD6-46A2-96AD-0288887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3963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2CF78D-0AC0-4E71-8350-3BC2A8E4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578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8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7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xmlns="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xmlns="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1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:a16="http://schemas.microsoft.com/office/drawing/2014/main" xmlns="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xmlns="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70E9772E-AF4F-4C17-B477-D78352308CB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590" y="6366986"/>
            <a:ext cx="512406" cy="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6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xmlns="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7710A05-4BC0-4640-9166-A8A038BAD88C}"/>
              </a:ext>
            </a:extLst>
          </p:cNvPr>
          <p:cNvSpPr txBox="1"/>
          <p:nvPr userDrawn="1"/>
        </p:nvSpPr>
        <p:spPr>
          <a:xfrm>
            <a:off x="3898760" y="2622619"/>
            <a:ext cx="5194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TERIMA KASIH</a:t>
            </a:r>
            <a:endParaRPr lang="en-ID" sz="5400" dirty="0"/>
          </a:p>
        </p:txBody>
      </p:sp>
    </p:spTree>
    <p:extLst>
      <p:ext uri="{BB962C8B-B14F-4D97-AF65-F5344CB8AC3E}">
        <p14:creationId xmlns:p14="http://schemas.microsoft.com/office/powerpoint/2010/main" val="32117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xmlns="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xmlns="" id="{38F377F8-55ED-4437-98B9-2D2AA5DD3B4A}"/>
              </a:ext>
            </a:extLst>
          </p:cNvPr>
          <p:cNvSpPr/>
          <p:nvPr userDrawn="1"/>
        </p:nvSpPr>
        <p:spPr>
          <a:xfrm>
            <a:off x="0" y="2582426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7392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65A30DD-8BE8-42A1-85CC-D069AF516F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057400"/>
            <a:ext cx="4876800" cy="27432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xmlns="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xmlns="" id="{38F377F8-55ED-4437-98B9-2D2AA5DD3B4A}"/>
              </a:ext>
            </a:extLst>
          </p:cNvPr>
          <p:cNvSpPr/>
          <p:nvPr userDrawn="1"/>
        </p:nvSpPr>
        <p:spPr>
          <a:xfrm>
            <a:off x="0" y="0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0466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xmlns="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34" name="Text Placeholder 33">
            <a:extLst>
              <a:ext uri="{FF2B5EF4-FFF2-40B4-BE49-F238E27FC236}">
                <a16:creationId xmlns:a16="http://schemas.microsoft.com/office/drawing/2014/main" xmlns="" id="{73922ECC-A830-4C03-9B45-AEB8C3D23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35" name="Title Placeholder 34">
            <a:extLst>
              <a:ext uri="{FF2B5EF4-FFF2-40B4-BE49-F238E27FC236}">
                <a16:creationId xmlns:a16="http://schemas.microsoft.com/office/drawing/2014/main" xmlns="" id="{862CBB9D-7640-4DCE-8E7A-C98B9F67D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01620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85" r:id="rId3"/>
    <p:sldLayoutId id="2147483652" r:id="rId4"/>
    <p:sldLayoutId id="2147483651" r:id="rId5"/>
    <p:sldLayoutId id="2147483686" r:id="rId6"/>
    <p:sldLayoutId id="214748368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xmlns="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3FA5E565-A9FD-45A9-9262-E4CE87B5C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298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060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67122B0-D188-4F1B-9170-48FB515F7D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xmlns="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8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83970" y="2614138"/>
            <a:ext cx="226055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d-ID" sz="4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FRAME</a:t>
            </a:r>
            <a:endParaRPr lang="id-ID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Ming Std L" pitchFamily="18" charset="-128"/>
              <a:ea typeface="Adobe Ming Std L" pitchFamily="18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49324" y="3498930"/>
            <a:ext cx="548823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800" b="1" dirty="0" smtClean="0"/>
              <a:t>Oleh :</a:t>
            </a:r>
          </a:p>
          <a:p>
            <a:pPr algn="ctr"/>
            <a:r>
              <a:rPr lang="id-ID" sz="2800" b="1" dirty="0" smtClean="0"/>
              <a:t>Tim Dosen Prodi Teknik Informatika</a:t>
            </a:r>
          </a:p>
        </p:txBody>
      </p:sp>
    </p:spTree>
    <p:extLst>
      <p:ext uri="{BB962C8B-B14F-4D97-AF65-F5344CB8AC3E}">
        <p14:creationId xmlns:p14="http://schemas.microsoft.com/office/powerpoint/2010/main" val="200752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5155" y="371681"/>
            <a:ext cx="16946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d-ID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FRAME</a:t>
            </a:r>
            <a:endParaRPr lang="id-ID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Ming Std L" pitchFamily="18" charset="-128"/>
              <a:ea typeface="Adobe Ming Std L" pitchFamily="18" charset="-12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75154" y="1391896"/>
            <a:ext cx="10902445" cy="880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id-ID" dirty="0"/>
              <a:t>Elemen Frame </a:t>
            </a:r>
            <a:r>
              <a:rPr lang="id-ID" dirty="0" smtClean="0"/>
              <a:t>pada HTML dimaksudkan untuk </a:t>
            </a:r>
            <a:r>
              <a:rPr lang="id-ID" dirty="0"/>
              <a:t>mengatur tataletak tampilan dengan layar </a:t>
            </a:r>
            <a:r>
              <a:rPr lang="id-ID" dirty="0" smtClean="0"/>
              <a:t>menjadi beberapa </a:t>
            </a:r>
            <a:r>
              <a:rPr lang="id-ID" dirty="0"/>
              <a:t>bagian berdasarkan baris dan kolom. </a:t>
            </a:r>
            <a:endParaRPr lang="id-ID" dirty="0"/>
          </a:p>
        </p:txBody>
      </p:sp>
      <p:sp>
        <p:nvSpPr>
          <p:cNvPr id="4" name="Rectangle 3"/>
          <p:cNvSpPr/>
          <p:nvPr/>
        </p:nvSpPr>
        <p:spPr>
          <a:xfrm>
            <a:off x="805543" y="2535716"/>
            <a:ext cx="5246914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d-ID" dirty="0"/>
              <a:t>&lt;frameset </a:t>
            </a:r>
            <a:r>
              <a:rPr lang="id-ID" dirty="0" smtClean="0"/>
              <a:t>border = n </a:t>
            </a:r>
            <a:r>
              <a:rPr lang="id-ID" dirty="0"/>
              <a:t>rows|cols = ”..%, ...%, dst”&gt;</a:t>
            </a:r>
          </a:p>
          <a:p>
            <a:pPr>
              <a:lnSpc>
                <a:spcPct val="150000"/>
              </a:lnSpc>
            </a:pPr>
            <a:r>
              <a:rPr lang="en-US" dirty="0"/>
              <a:t>     &lt;frame </a:t>
            </a:r>
            <a:r>
              <a:rPr lang="en-US" dirty="0" err="1"/>
              <a:t>src</a:t>
            </a:r>
            <a:r>
              <a:rPr lang="en-US" dirty="0"/>
              <a:t>=”</a:t>
            </a:r>
            <a:r>
              <a:rPr lang="en-US" dirty="0" err="1"/>
              <a:t>url</a:t>
            </a:r>
            <a:r>
              <a:rPr lang="en-US" dirty="0"/>
              <a:t>” name=”name frame”&gt;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4914" y="4082139"/>
            <a:ext cx="751763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id-ID" dirty="0" smtClean="0"/>
              <a:t>n 		: jumlah kolom atau baris yang digunakan dalam frame</a:t>
            </a:r>
          </a:p>
          <a:p>
            <a:pPr>
              <a:lnSpc>
                <a:spcPct val="150000"/>
              </a:lnSpc>
            </a:pPr>
            <a:r>
              <a:rPr lang="id-ID" dirty="0" smtClean="0"/>
              <a:t>%  		: ukuran panjang yang akan dijadikan kolom atau baris</a:t>
            </a:r>
          </a:p>
          <a:p>
            <a:pPr>
              <a:lnSpc>
                <a:spcPct val="150000"/>
              </a:lnSpc>
            </a:pPr>
            <a:r>
              <a:rPr lang="id-ID" dirty="0" smtClean="0"/>
              <a:t>url		: link untuk html yang akan ditampilkan pada bagian frame</a:t>
            </a:r>
          </a:p>
          <a:p>
            <a:pPr>
              <a:lnSpc>
                <a:spcPct val="150000"/>
              </a:lnSpc>
            </a:pPr>
            <a:r>
              <a:rPr lang="id-ID" dirty="0"/>
              <a:t>n</a:t>
            </a:r>
            <a:r>
              <a:rPr lang="id-ID" dirty="0" smtClean="0"/>
              <a:t>ame frame 	: nama dari frame yang dibuat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583454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6677" y="55866"/>
            <a:ext cx="52902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d-ID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Struktur penulisan </a:t>
            </a:r>
            <a:r>
              <a:rPr lang="id-ID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Frameset</a:t>
            </a:r>
            <a:endParaRPr lang="id-ID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Ming Std L" pitchFamily="18" charset="-128"/>
              <a:ea typeface="Adobe Ming Std L" pitchFamily="18" charset="-12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54801" y="1316370"/>
            <a:ext cx="3804492" cy="341632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d-ID" dirty="0"/>
              <a:t>html&gt; </a:t>
            </a:r>
          </a:p>
          <a:p>
            <a:pPr>
              <a:lnSpc>
                <a:spcPct val="150000"/>
              </a:lnSpc>
            </a:pPr>
            <a:r>
              <a:rPr lang="id-ID" dirty="0"/>
              <a:t>&lt;head&gt; </a:t>
            </a:r>
          </a:p>
          <a:p>
            <a:pPr>
              <a:lnSpc>
                <a:spcPct val="150000"/>
              </a:lnSpc>
            </a:pPr>
            <a:r>
              <a:rPr lang="id-ID" dirty="0"/>
              <a:t>--- bagian head --- </a:t>
            </a:r>
          </a:p>
          <a:p>
            <a:pPr>
              <a:lnSpc>
                <a:spcPct val="150000"/>
              </a:lnSpc>
            </a:pPr>
            <a:r>
              <a:rPr lang="id-ID" dirty="0"/>
              <a:t>&lt;/head&gt;</a:t>
            </a:r>
          </a:p>
          <a:p>
            <a:pPr>
              <a:lnSpc>
                <a:spcPct val="150000"/>
              </a:lnSpc>
            </a:pPr>
            <a:r>
              <a:rPr lang="id-ID" dirty="0"/>
              <a:t>&lt;frameset&gt;</a:t>
            </a:r>
          </a:p>
          <a:p>
            <a:pPr>
              <a:lnSpc>
                <a:spcPct val="150000"/>
              </a:lnSpc>
            </a:pPr>
            <a:r>
              <a:rPr lang="id-ID" dirty="0"/>
              <a:t>--- bagian frame ---</a:t>
            </a:r>
          </a:p>
          <a:p>
            <a:pPr>
              <a:lnSpc>
                <a:spcPct val="150000"/>
              </a:lnSpc>
            </a:pPr>
            <a:r>
              <a:rPr lang="id-ID" dirty="0"/>
              <a:t>&lt;/frameset&gt;</a:t>
            </a:r>
          </a:p>
          <a:p>
            <a:pPr>
              <a:lnSpc>
                <a:spcPct val="150000"/>
              </a:lnSpc>
            </a:pPr>
            <a:r>
              <a:rPr lang="id-ID" dirty="0"/>
              <a:t>&lt;/html&gt;</a:t>
            </a:r>
            <a:endParaRPr lang="id-ID" dirty="0"/>
          </a:p>
        </p:txBody>
      </p:sp>
      <p:sp>
        <p:nvSpPr>
          <p:cNvPr id="4" name="Rectangle 3"/>
          <p:cNvSpPr/>
          <p:nvPr/>
        </p:nvSpPr>
        <p:spPr>
          <a:xfrm>
            <a:off x="899715" y="4854363"/>
            <a:ext cx="10524775" cy="880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d-ID" dirty="0"/>
              <a:t>HTML yang sudah menggunakan elemen Frame tidak perlu </a:t>
            </a:r>
            <a:r>
              <a:rPr lang="id-ID" dirty="0" smtClean="0"/>
              <a:t>menggunakan perintah </a:t>
            </a:r>
            <a:r>
              <a:rPr lang="id-ID" dirty="0"/>
              <a:t>body, karena perintah body  sudah diganti dengan FRAMESET </a:t>
            </a:r>
            <a:r>
              <a:rPr lang="id-ID" dirty="0" smtClean="0"/>
              <a:t>dimana setiap </a:t>
            </a:r>
            <a:r>
              <a:rPr lang="id-ID" dirty="0"/>
              <a:t>bagian berisi dokumen yang dipanggil menggunakan Frame.  </a:t>
            </a:r>
          </a:p>
        </p:txBody>
      </p:sp>
    </p:spTree>
    <p:extLst>
      <p:ext uri="{BB962C8B-B14F-4D97-AF65-F5344CB8AC3E}">
        <p14:creationId xmlns:p14="http://schemas.microsoft.com/office/powerpoint/2010/main" val="1615267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51114" y="1059835"/>
            <a:ext cx="10591799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d-ID" dirty="0" smtClean="0"/>
              <a:t>Atribut FRAMESET terdiri dari :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id-ID" dirty="0" smtClean="0"/>
              <a:t>ROWS </a:t>
            </a:r>
            <a:r>
              <a:rPr lang="id-ID" dirty="0"/>
              <a:t>(berisi beberapa </a:t>
            </a:r>
            <a:r>
              <a:rPr lang="id-ID" dirty="0" smtClean="0"/>
              <a:t>baris frame </a:t>
            </a:r>
            <a:r>
              <a:rPr lang="id-ID" dirty="0"/>
              <a:t>pada tampilan layar browser) </a:t>
            </a:r>
            <a:endParaRPr lang="id-ID" dirty="0" smtClean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id-ID" dirty="0" smtClean="0"/>
              <a:t>COLS </a:t>
            </a:r>
            <a:r>
              <a:rPr lang="id-ID" dirty="0"/>
              <a:t>(berisi beberapa baris kolom </a:t>
            </a:r>
            <a:r>
              <a:rPr lang="id-ID" dirty="0" smtClean="0"/>
              <a:t>framepada </a:t>
            </a:r>
            <a:r>
              <a:rPr lang="id-ID" dirty="0"/>
              <a:t>tampilan layar browser).  </a:t>
            </a:r>
            <a:endParaRPr lang="id-ID" dirty="0" smtClean="0"/>
          </a:p>
        </p:txBody>
      </p:sp>
      <p:sp>
        <p:nvSpPr>
          <p:cNvPr id="3" name="Rectangle 2"/>
          <p:cNvSpPr/>
          <p:nvPr/>
        </p:nvSpPr>
        <p:spPr>
          <a:xfrm>
            <a:off x="338624" y="328016"/>
            <a:ext cx="42354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d-ID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Atribut pada Frameset</a:t>
            </a:r>
            <a:endParaRPr lang="id-ID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Ming Std L" pitchFamily="18" charset="-128"/>
              <a:ea typeface="Adobe Ming Std L" pitchFamily="18" charset="-12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51114" y="2862932"/>
            <a:ext cx="10668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d-ID" dirty="0"/>
              <a:t>C</a:t>
            </a:r>
            <a:r>
              <a:rPr lang="id-ID" dirty="0" smtClean="0"/>
              <a:t>ontoh :</a:t>
            </a:r>
          </a:p>
          <a:p>
            <a:pPr>
              <a:lnSpc>
                <a:spcPct val="150000"/>
              </a:lnSpc>
            </a:pPr>
            <a:r>
              <a:rPr lang="id-ID" dirty="0" smtClean="0"/>
              <a:t>Layar tampilan akan dibagi </a:t>
            </a:r>
            <a:r>
              <a:rPr lang="it-IT" dirty="0" smtClean="0"/>
              <a:t>menjadi </a:t>
            </a:r>
            <a:r>
              <a:rPr lang="it-IT" dirty="0"/>
              <a:t>3 baris frame di mana tinggi tiap frame 75, 120, dan 225 </a:t>
            </a:r>
            <a:r>
              <a:rPr lang="it-IT" dirty="0" smtClean="0"/>
              <a:t>pixel</a:t>
            </a:r>
            <a:r>
              <a:rPr lang="id-ID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it-IT" dirty="0" smtClean="0"/>
              <a:t>Penulisan</a:t>
            </a:r>
            <a:r>
              <a:rPr lang="id-ID" dirty="0" smtClean="0"/>
              <a:t> script </a:t>
            </a:r>
            <a:r>
              <a:rPr lang="id-ID" dirty="0"/>
              <a:t>frame dalam </a:t>
            </a:r>
            <a:r>
              <a:rPr lang="id-ID" dirty="0" smtClean="0"/>
              <a:t>HTML :</a:t>
            </a:r>
          </a:p>
          <a:p>
            <a:pPr>
              <a:lnSpc>
                <a:spcPct val="150000"/>
              </a:lnSpc>
            </a:pPr>
            <a:endParaRPr lang="id-ID" dirty="0"/>
          </a:p>
          <a:p>
            <a:pPr>
              <a:lnSpc>
                <a:spcPct val="150000"/>
              </a:lnSpc>
            </a:pPr>
            <a:endParaRPr lang="id-ID" dirty="0" smtClean="0"/>
          </a:p>
          <a:p>
            <a:pPr>
              <a:lnSpc>
                <a:spcPct val="150000"/>
              </a:lnSpc>
            </a:pPr>
            <a:r>
              <a:rPr lang="id-ID" dirty="0" smtClean="0"/>
              <a:t>Baris dan kolom </a:t>
            </a:r>
            <a:r>
              <a:rPr lang="id-ID" dirty="0"/>
              <a:t>dalam frame dapat dituliskan dengan cara lain dengan tanda % dan </a:t>
            </a:r>
            <a:r>
              <a:rPr lang="id-ID" dirty="0" smtClean="0"/>
              <a:t>nilai relatif</a:t>
            </a:r>
            <a:r>
              <a:rPr lang="id-ID" dirty="0"/>
              <a:t>. </a:t>
            </a:r>
            <a:endParaRPr lang="id-ID" dirty="0"/>
          </a:p>
        </p:txBody>
      </p:sp>
      <p:sp>
        <p:nvSpPr>
          <p:cNvPr id="5" name="Rectangle 4"/>
          <p:cNvSpPr/>
          <p:nvPr/>
        </p:nvSpPr>
        <p:spPr>
          <a:xfrm>
            <a:off x="3617032" y="4350735"/>
            <a:ext cx="3675878" cy="5078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id-ID" dirty="0"/>
              <a:t>&lt;FRAMESET ROWS = “75, 120, 225</a:t>
            </a:r>
            <a:r>
              <a:rPr lang="id-ID" dirty="0" smtClean="0"/>
              <a:t>”&gt; 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904662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29247" y="328016"/>
            <a:ext cx="30091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d-ID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Contoh Layout </a:t>
            </a:r>
            <a:endParaRPr lang="id-ID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Ming Std L" pitchFamily="18" charset="-128"/>
              <a:ea typeface="Adobe Ming Std L" pitchFamily="18" charset="-128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10"/>
          <a:stretch/>
        </p:blipFill>
        <p:spPr bwMode="auto">
          <a:xfrm>
            <a:off x="2746374" y="1428444"/>
            <a:ext cx="7126968" cy="4681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33398" y="1208313"/>
            <a:ext cx="1867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 smtClean="0"/>
              <a:t>Frameset Vertical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148078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45"/>
          <a:stretch/>
        </p:blipFill>
        <p:spPr bwMode="auto">
          <a:xfrm>
            <a:off x="5765800" y="1571985"/>
            <a:ext cx="6026061" cy="397031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429247" y="61316"/>
            <a:ext cx="30091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d-ID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Contoh Layout </a:t>
            </a:r>
            <a:endParaRPr lang="id-ID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Ming Std L" pitchFamily="18" charset="-128"/>
              <a:ea typeface="Adobe Ming Std L" pitchFamily="18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65800" y="1057726"/>
            <a:ext cx="2079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 smtClean="0"/>
              <a:t>Frameset Campuran</a:t>
            </a:r>
            <a:endParaRPr lang="id-ID" dirty="0"/>
          </a:p>
        </p:txBody>
      </p:sp>
      <p:sp>
        <p:nvSpPr>
          <p:cNvPr id="3" name="Rectangle 2"/>
          <p:cNvSpPr/>
          <p:nvPr/>
        </p:nvSpPr>
        <p:spPr>
          <a:xfrm>
            <a:off x="533398" y="1571985"/>
            <a:ext cx="4953002" cy="3970318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 wrap="square">
            <a:spAutoFit/>
          </a:bodyPr>
          <a:lstStyle/>
          <a:p>
            <a:r>
              <a:rPr lang="id-ID" sz="1400" dirty="0"/>
              <a:t>&lt;html&gt;</a:t>
            </a:r>
          </a:p>
          <a:p>
            <a:r>
              <a:rPr lang="id-ID" sz="1400" dirty="0"/>
              <a:t>&lt;head&gt;</a:t>
            </a:r>
          </a:p>
          <a:p>
            <a:r>
              <a:rPr lang="id-ID" sz="1400" dirty="0"/>
              <a:t>   &lt;title&gt;Frame campuran&lt;/title&gt;</a:t>
            </a:r>
          </a:p>
          <a:p>
            <a:r>
              <a:rPr lang="id-ID" sz="1400" dirty="0"/>
              <a:t>&lt;/head&gt;</a:t>
            </a:r>
          </a:p>
          <a:p>
            <a:r>
              <a:rPr lang="id-ID" sz="1400" dirty="0"/>
              <a:t>&lt;frameset rows="25%, *"&gt;</a:t>
            </a:r>
          </a:p>
          <a:p>
            <a:r>
              <a:rPr lang="id-ID" sz="1400" dirty="0"/>
              <a:t>   &lt;frame name="frame1" src="frame1.html" scrolling="no" noresize="noresize"&gt;</a:t>
            </a:r>
          </a:p>
          <a:p>
            <a:r>
              <a:rPr lang="id-ID" sz="1400" dirty="0"/>
              <a:t>   &lt;frameset cols="25%, *"&gt;</a:t>
            </a:r>
          </a:p>
          <a:p>
            <a:r>
              <a:rPr lang="id-ID" sz="1400" dirty="0"/>
              <a:t>      &lt;frame name="frame2" src="frame2.html"&gt;</a:t>
            </a:r>
          </a:p>
          <a:p>
            <a:r>
              <a:rPr lang="id-ID" sz="1400" dirty="0"/>
              <a:t>      &lt;frame name="frame3" src="frame3.html" scrolling="auto"&gt;</a:t>
            </a:r>
          </a:p>
          <a:p>
            <a:r>
              <a:rPr lang="id-ID" sz="1400" dirty="0"/>
              <a:t>   &lt;/frameset&gt;</a:t>
            </a:r>
          </a:p>
          <a:p>
            <a:r>
              <a:rPr lang="id-ID" sz="1400" dirty="0"/>
              <a:t>   &lt;noframes&gt;</a:t>
            </a:r>
          </a:p>
          <a:p>
            <a:r>
              <a:rPr lang="id-ID" sz="1400" dirty="0"/>
              <a:t>      &lt;body&gt;</a:t>
            </a:r>
          </a:p>
          <a:p>
            <a:r>
              <a:rPr lang="id-ID" sz="1400" dirty="0"/>
              <a:t>         Maaf, browser Anda tidak mendukung penggunaan frame.</a:t>
            </a:r>
          </a:p>
          <a:p>
            <a:r>
              <a:rPr lang="id-ID" sz="1400" dirty="0"/>
              <a:t>      &lt;/body&gt;</a:t>
            </a:r>
          </a:p>
          <a:p>
            <a:r>
              <a:rPr lang="id-ID" sz="1400" dirty="0"/>
              <a:t>   &lt;/noframes&gt;</a:t>
            </a:r>
          </a:p>
          <a:p>
            <a:r>
              <a:rPr lang="id-ID" sz="1400" dirty="0"/>
              <a:t>&lt;/frameset&gt;</a:t>
            </a:r>
          </a:p>
          <a:p>
            <a:r>
              <a:rPr lang="id-ID" sz="1400" dirty="0"/>
              <a:t>&lt;/html&gt;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398" y="1057726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 smtClean="0"/>
              <a:t>Coding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874628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2734" y="316073"/>
            <a:ext cx="20446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3600" b="1" dirty="0">
                <a:solidFill>
                  <a:schemeClr val="bg1"/>
                </a:solidFill>
              </a:rPr>
              <a:t>Latihan </a:t>
            </a:r>
            <a:r>
              <a:rPr lang="id-ID" sz="3600" b="1" dirty="0" smtClean="0">
                <a:solidFill>
                  <a:schemeClr val="bg1"/>
                </a:solidFill>
              </a:rPr>
              <a:t>1 </a:t>
            </a:r>
            <a:endParaRPr lang="id-ID" sz="3600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687670"/>
            <a:ext cx="631057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 smtClean="0"/>
              <a:t>Buatlah beberapa file html sebagai berikut ini didalam satu folder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id-ID" dirty="0" smtClean="0"/>
              <a:t>Index.html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id-ID" dirty="0" smtClean="0"/>
              <a:t>Menu.html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id-ID" dirty="0" smtClean="0"/>
              <a:t>Home.html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id-ID" dirty="0" smtClean="0"/>
              <a:t>Profil.html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id-ID" dirty="0" smtClean="0"/>
              <a:t>Gallery.html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id-ID" dirty="0" smtClean="0"/>
              <a:t>Kontak.html</a:t>
            </a:r>
          </a:p>
        </p:txBody>
      </p:sp>
    </p:spTree>
    <p:extLst>
      <p:ext uri="{BB962C8B-B14F-4D97-AF65-F5344CB8AC3E}">
        <p14:creationId xmlns:p14="http://schemas.microsoft.com/office/powerpoint/2010/main" val="4074112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2734" y="69335"/>
            <a:ext cx="20446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3600" b="1" dirty="0">
                <a:solidFill>
                  <a:schemeClr val="bg1"/>
                </a:solidFill>
              </a:rPr>
              <a:t>Latihan </a:t>
            </a:r>
            <a:r>
              <a:rPr lang="id-ID" sz="3600" b="1" dirty="0" smtClean="0">
                <a:solidFill>
                  <a:schemeClr val="bg1"/>
                </a:solidFill>
              </a:rPr>
              <a:t>1 </a:t>
            </a:r>
            <a:endParaRPr lang="id-ID" sz="3600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86036" y="1305341"/>
            <a:ext cx="6096000" cy="3970318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>
            <a:spAutoFit/>
          </a:bodyPr>
          <a:lstStyle/>
          <a:p>
            <a:r>
              <a:rPr lang="id-ID" dirty="0"/>
              <a:t>&lt;HTML&gt; </a:t>
            </a:r>
          </a:p>
          <a:p>
            <a:r>
              <a:rPr lang="id-ID" dirty="0"/>
              <a:t>&lt;HEAD&gt; </a:t>
            </a:r>
          </a:p>
          <a:p>
            <a:r>
              <a:rPr lang="nn-NO" dirty="0"/>
              <a:t>&lt;TITLE&gt; Membuat Frame berdasarkan baris dan kolom &lt;/TITLE&gt; </a:t>
            </a:r>
          </a:p>
          <a:p>
            <a:r>
              <a:rPr lang="id-ID" dirty="0"/>
              <a:t>&lt;/HEAD&gt; </a:t>
            </a:r>
          </a:p>
          <a:p>
            <a:r>
              <a:rPr lang="id-ID" dirty="0"/>
              <a:t>&lt;frameset rows="25%,65%,10%"&gt; </a:t>
            </a:r>
          </a:p>
          <a:p>
            <a:r>
              <a:rPr lang="id-ID" dirty="0"/>
              <a:t>  &lt;frame src="header.html"  noresize &gt; </a:t>
            </a:r>
          </a:p>
          <a:p>
            <a:r>
              <a:rPr lang="id-ID" dirty="0"/>
              <a:t>  &lt;frameset cols="15%, 85%"&gt; </a:t>
            </a:r>
          </a:p>
          <a:p>
            <a:r>
              <a:rPr lang="id-ID" dirty="0"/>
              <a:t>    &lt;frame src="menu.html"&gt; </a:t>
            </a:r>
          </a:p>
          <a:p>
            <a:r>
              <a:rPr lang="id-ID" dirty="0"/>
              <a:t> &lt;frame src="home.html" name="kanan"&gt; </a:t>
            </a:r>
          </a:p>
          <a:p>
            <a:r>
              <a:rPr lang="id-ID" dirty="0"/>
              <a:t>  &lt;/frameset&gt; </a:t>
            </a:r>
          </a:p>
          <a:p>
            <a:r>
              <a:rPr lang="id-ID" dirty="0"/>
              <a:t>  &lt;frame src="footer.html" noresize scrolling=no&gt; </a:t>
            </a:r>
          </a:p>
          <a:p>
            <a:r>
              <a:rPr lang="id-ID" dirty="0"/>
              <a:t>&lt;/frameset&gt; </a:t>
            </a:r>
          </a:p>
          <a:p>
            <a:r>
              <a:rPr lang="id-ID" dirty="0"/>
              <a:t>&lt;/HTML&gt; </a:t>
            </a:r>
          </a:p>
        </p:txBody>
      </p:sp>
      <p:sp>
        <p:nvSpPr>
          <p:cNvPr id="4" name="Rectangle 3"/>
          <p:cNvSpPr/>
          <p:nvPr/>
        </p:nvSpPr>
        <p:spPr>
          <a:xfrm>
            <a:off x="1315065" y="5639191"/>
            <a:ext cx="33791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/>
              <a:t>Simpan dengan nama: </a:t>
            </a:r>
            <a:r>
              <a:rPr lang="id-ID" b="1" dirty="0"/>
              <a:t>index.html </a:t>
            </a:r>
            <a:endParaRPr lang="id-ID" b="1" dirty="0"/>
          </a:p>
        </p:txBody>
      </p:sp>
    </p:spTree>
    <p:extLst>
      <p:ext uri="{BB962C8B-B14F-4D97-AF65-F5344CB8AC3E}">
        <p14:creationId xmlns:p14="http://schemas.microsoft.com/office/powerpoint/2010/main" val="3605854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77257" y="1161139"/>
            <a:ext cx="6096000" cy="4247317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>
            <a:spAutoFit/>
          </a:bodyPr>
          <a:lstStyle/>
          <a:p>
            <a:r>
              <a:rPr lang="id-ID" dirty="0"/>
              <a:t>&lt;HTML&gt; </a:t>
            </a:r>
          </a:p>
          <a:p>
            <a:r>
              <a:rPr lang="id-ID" dirty="0"/>
              <a:t>&lt;HEAD&gt; </a:t>
            </a:r>
          </a:p>
          <a:p>
            <a:r>
              <a:rPr lang="id-ID" dirty="0"/>
              <a:t>&lt;TITLE&gt;Menu dengan Hyperlink&lt;/TITLE&gt; </a:t>
            </a:r>
          </a:p>
          <a:p>
            <a:r>
              <a:rPr lang="id-ID" dirty="0"/>
              <a:t>&lt;/HEAD&gt; </a:t>
            </a:r>
          </a:p>
          <a:p>
            <a:r>
              <a:rPr lang="id-ID" dirty="0"/>
              <a:t>&lt;BODY&gt; </a:t>
            </a:r>
          </a:p>
          <a:p>
            <a:r>
              <a:rPr lang="id-ID" dirty="0"/>
              <a:t>&lt;font color="navy" size="4"&gt;Menu &lt;/font&gt; </a:t>
            </a:r>
          </a:p>
          <a:p>
            <a:r>
              <a:rPr lang="en-US" dirty="0"/>
              <a:t>&lt;font color="sienna" size="4"&gt; </a:t>
            </a:r>
          </a:p>
          <a:p>
            <a:r>
              <a:rPr lang="id-ID" dirty="0"/>
              <a:t>&lt;ul type="square"&gt; </a:t>
            </a:r>
          </a:p>
          <a:p>
            <a:r>
              <a:rPr lang="en-US" dirty="0"/>
              <a:t>  &lt;li&gt;&lt;a </a:t>
            </a:r>
            <a:r>
              <a:rPr lang="en-US" dirty="0" err="1"/>
              <a:t>href</a:t>
            </a:r>
            <a:r>
              <a:rPr lang="en-US" dirty="0"/>
              <a:t>="home.html" target="</a:t>
            </a:r>
            <a:r>
              <a:rPr lang="en-US" dirty="0" err="1"/>
              <a:t>kanan</a:t>
            </a:r>
            <a:r>
              <a:rPr lang="en-US" dirty="0"/>
              <a:t>"&gt;Home&lt;/a&gt;&lt;/li&gt; </a:t>
            </a:r>
          </a:p>
          <a:p>
            <a:r>
              <a:rPr lang="it-IT" dirty="0"/>
              <a:t>  &lt;li&gt;&lt;a href="profil.html" target="kanan"&gt;Profil&lt;/a&gt;&lt;/li&gt; </a:t>
            </a:r>
          </a:p>
          <a:p>
            <a:r>
              <a:rPr lang="it-IT" dirty="0"/>
              <a:t>  &lt;li&gt;&lt;a href="galery.html" target="kanan"&gt;Gallery&lt;/a&gt;&lt;/li&gt; </a:t>
            </a:r>
          </a:p>
          <a:p>
            <a:r>
              <a:rPr lang="id-ID" dirty="0"/>
              <a:t>  &lt;li&gt;&lt;a href="kontak.html" target="kanan"&gt;Kontak&lt;/a&gt;&lt;/li&gt; </a:t>
            </a:r>
          </a:p>
          <a:p>
            <a:r>
              <a:rPr lang="id-ID" dirty="0"/>
              <a:t> &lt;/ul&gt;&lt;/font&gt; </a:t>
            </a:r>
          </a:p>
          <a:p>
            <a:r>
              <a:rPr lang="id-ID" dirty="0"/>
              <a:t>&lt;/BODY&gt; </a:t>
            </a:r>
          </a:p>
          <a:p>
            <a:r>
              <a:rPr lang="id-ID" dirty="0"/>
              <a:t>&lt;/HTML&gt; </a:t>
            </a:r>
            <a:endParaRPr lang="id-ID" dirty="0"/>
          </a:p>
        </p:txBody>
      </p:sp>
      <p:sp>
        <p:nvSpPr>
          <p:cNvPr id="3" name="Rectangle 2"/>
          <p:cNvSpPr/>
          <p:nvPr/>
        </p:nvSpPr>
        <p:spPr>
          <a:xfrm>
            <a:off x="1277257" y="5494048"/>
            <a:ext cx="34086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 smtClean="0"/>
              <a:t>Simpan </a:t>
            </a:r>
            <a:r>
              <a:rPr lang="id-ID" dirty="0"/>
              <a:t>dengan nama </a:t>
            </a:r>
            <a:r>
              <a:rPr lang="id-ID" b="1" dirty="0"/>
              <a:t>menu.html </a:t>
            </a:r>
            <a:endParaRPr lang="id-ID" dirty="0"/>
          </a:p>
        </p:txBody>
      </p:sp>
      <p:sp>
        <p:nvSpPr>
          <p:cNvPr id="4" name="Rectangle 3"/>
          <p:cNvSpPr/>
          <p:nvPr/>
        </p:nvSpPr>
        <p:spPr>
          <a:xfrm>
            <a:off x="292734" y="301559"/>
            <a:ext cx="20446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3600" b="1" dirty="0"/>
              <a:t>Latihan </a:t>
            </a:r>
            <a:r>
              <a:rPr lang="id-ID" sz="3600" b="1" dirty="0" smtClean="0"/>
              <a:t>1 </a:t>
            </a:r>
            <a:endParaRPr lang="id-ID" sz="3600" dirty="0"/>
          </a:p>
        </p:txBody>
      </p:sp>
    </p:spTree>
    <p:extLst>
      <p:ext uri="{BB962C8B-B14F-4D97-AF65-F5344CB8AC3E}">
        <p14:creationId xmlns:p14="http://schemas.microsoft.com/office/powerpoint/2010/main" val="1935905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494971" y="994400"/>
            <a:ext cx="8244115" cy="4801314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 wrap="square">
            <a:spAutoFit/>
          </a:bodyPr>
          <a:lstStyle/>
          <a:p>
            <a:r>
              <a:rPr lang="id-ID" dirty="0"/>
              <a:t>&lt;HTML&gt;</a:t>
            </a:r>
          </a:p>
          <a:p>
            <a:r>
              <a:rPr lang="id-ID" dirty="0"/>
              <a:t>&lt;HEAD&gt;</a:t>
            </a:r>
          </a:p>
          <a:p>
            <a:r>
              <a:rPr lang="id-ID" dirty="0"/>
              <a:t>&lt;TITLE&gt; Halaman Utama &lt;/TITLE&gt;</a:t>
            </a:r>
          </a:p>
          <a:p>
            <a:r>
              <a:rPr lang="id-ID" dirty="0"/>
              <a:t>&lt;/HEAD&gt;</a:t>
            </a:r>
          </a:p>
          <a:p>
            <a:r>
              <a:rPr lang="id-ID" dirty="0"/>
              <a:t>&lt;BODY&gt;</a:t>
            </a:r>
          </a:p>
          <a:p>
            <a:r>
              <a:rPr lang="id-ID" dirty="0"/>
              <a:t>&lt;font color="blue"&gt;&lt;h1&gt;Programming WEB dengan HTML&lt;/h1&gt;&lt;/font&gt;</a:t>
            </a:r>
          </a:p>
          <a:p>
            <a:r>
              <a:rPr lang="id-ID" dirty="0"/>
              <a:t>&lt;font color="brown"&gt;&lt;h2&gt;&lt;blink&gt;Teknologi Informatika&lt;/blink&gt;&lt;/h2&gt;&lt;/font&gt;</a:t>
            </a:r>
          </a:p>
          <a:p>
            <a:r>
              <a:rPr lang="id-ID" dirty="0"/>
              <a:t>&lt;hr size=3 color="blue"&gt;</a:t>
            </a:r>
          </a:p>
          <a:p>
            <a:r>
              <a:rPr lang="en-US" dirty="0"/>
              <a:t>&lt;font size=6 color="magenta"&gt;&lt;marquee  behavior="scroll" direction="up"</a:t>
            </a:r>
          </a:p>
          <a:p>
            <a:r>
              <a:rPr lang="id-ID" dirty="0"/>
              <a:t>height=40 scrollamount="1"&gt;Selamat datang pada halaman website</a:t>
            </a:r>
          </a:p>
          <a:p>
            <a:r>
              <a:rPr lang="id-ID" dirty="0"/>
              <a:t>kami....&lt;/marquee&gt;&lt;/font&gt;&lt;br&gt;</a:t>
            </a:r>
          </a:p>
          <a:p>
            <a:r>
              <a:rPr lang="id-ID" dirty="0"/>
              <a:t>&lt;p align="justify"&gt;&lt;font size=5&gt;Silakan anda mencari informasi di website ini,</a:t>
            </a:r>
          </a:p>
          <a:p>
            <a:r>
              <a:rPr lang="sv-SE" dirty="0"/>
              <a:t>semoga anda mendapatkan tambahan wawasan dan pengetahuan.&lt;/p&gt;  </a:t>
            </a:r>
          </a:p>
          <a:p>
            <a:r>
              <a:rPr lang="id-ID" dirty="0"/>
              <a:t>&lt;p&gt;Pada halaman ini akan membahas seputar script HTML dan cara mempercantik</a:t>
            </a:r>
          </a:p>
          <a:p>
            <a:r>
              <a:rPr lang="id-ID" dirty="0"/>
              <a:t>tampilan web dengan menggunakan CSS (cascading style sheet) &lt;/p&gt;&lt;/font&gt;</a:t>
            </a:r>
          </a:p>
          <a:p>
            <a:r>
              <a:rPr lang="id-ID" dirty="0"/>
              <a:t>&lt;/BODY&gt;</a:t>
            </a:r>
          </a:p>
          <a:p>
            <a:r>
              <a:rPr lang="id-ID" dirty="0"/>
              <a:t>&lt;/HTML&gt;</a:t>
            </a:r>
          </a:p>
        </p:txBody>
      </p:sp>
      <p:sp>
        <p:nvSpPr>
          <p:cNvPr id="4" name="Rectangle 3"/>
          <p:cNvSpPr/>
          <p:nvPr/>
        </p:nvSpPr>
        <p:spPr>
          <a:xfrm>
            <a:off x="1494971" y="5769820"/>
            <a:ext cx="27249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/>
              <a:t>File disimpan : </a:t>
            </a:r>
            <a:r>
              <a:rPr lang="id-ID" b="1" dirty="0"/>
              <a:t>home.html </a:t>
            </a:r>
            <a:endParaRPr lang="id-ID" dirty="0"/>
          </a:p>
        </p:txBody>
      </p:sp>
      <p:sp>
        <p:nvSpPr>
          <p:cNvPr id="5" name="Rectangle 4"/>
          <p:cNvSpPr/>
          <p:nvPr/>
        </p:nvSpPr>
        <p:spPr>
          <a:xfrm>
            <a:off x="292734" y="301559"/>
            <a:ext cx="20446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3600" b="1" dirty="0"/>
              <a:t>Latihan </a:t>
            </a:r>
            <a:r>
              <a:rPr lang="id-ID" sz="3600" b="1" dirty="0" smtClean="0"/>
              <a:t>1 </a:t>
            </a:r>
            <a:endParaRPr lang="id-ID" sz="3600" dirty="0"/>
          </a:p>
        </p:txBody>
      </p:sp>
    </p:spTree>
    <p:extLst>
      <p:ext uri="{BB962C8B-B14F-4D97-AF65-F5344CB8AC3E}">
        <p14:creationId xmlns:p14="http://schemas.microsoft.com/office/powerpoint/2010/main" val="111849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15999" y="963647"/>
            <a:ext cx="10101943" cy="4801314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 wrap="square">
            <a:spAutoFit/>
          </a:bodyPr>
          <a:lstStyle/>
          <a:p>
            <a:pPr algn="just"/>
            <a:r>
              <a:rPr lang="id-ID" dirty="0"/>
              <a:t>&lt;HTML&gt;</a:t>
            </a:r>
          </a:p>
          <a:p>
            <a:pPr algn="just"/>
            <a:r>
              <a:rPr lang="id-ID" dirty="0"/>
              <a:t>&lt;HEAD&gt;</a:t>
            </a:r>
          </a:p>
          <a:p>
            <a:pPr algn="just"/>
            <a:r>
              <a:rPr lang="id-ID" dirty="0"/>
              <a:t>&lt;TITLE&gt; Halaman Profil &lt;/TITLE&gt;</a:t>
            </a:r>
          </a:p>
          <a:p>
            <a:pPr algn="just"/>
            <a:r>
              <a:rPr lang="id-ID" dirty="0"/>
              <a:t>&lt;/HEAD&gt;</a:t>
            </a:r>
          </a:p>
          <a:p>
            <a:pPr algn="just"/>
            <a:r>
              <a:rPr lang="id-ID" dirty="0"/>
              <a:t>&lt;BODY&gt;</a:t>
            </a:r>
          </a:p>
          <a:p>
            <a:pPr algn="just"/>
            <a:r>
              <a:rPr lang="id-ID" dirty="0"/>
              <a:t>&lt;font size=4 color="blue"&gt;</a:t>
            </a:r>
          </a:p>
          <a:p>
            <a:pPr algn="just"/>
            <a:r>
              <a:rPr lang="sv-SE" dirty="0"/>
              <a:t>&lt;b&gt;&lt;p&gt;Pengalaman adalah ilmu yang paling berharga yang dapat kita </a:t>
            </a:r>
            <a:r>
              <a:rPr lang="sv-SE" dirty="0" smtClean="0"/>
              <a:t>peroleh</a:t>
            </a:r>
            <a:r>
              <a:rPr lang="id-ID" dirty="0" smtClean="0"/>
              <a:t> </a:t>
            </a:r>
            <a:r>
              <a:rPr lang="sv-SE" dirty="0" smtClean="0"/>
              <a:t>dimana </a:t>
            </a:r>
            <a:r>
              <a:rPr lang="sv-SE" dirty="0"/>
              <a:t>saja, kapan saja dan tidak harus duduk dibangku sekolah resmi.&lt;/p&gt;&lt;/</a:t>
            </a:r>
            <a:r>
              <a:rPr lang="sv-SE" dirty="0" smtClean="0"/>
              <a:t>b&gt;</a:t>
            </a:r>
            <a:endParaRPr lang="id-ID" dirty="0" smtClean="0"/>
          </a:p>
          <a:p>
            <a:pPr algn="just"/>
            <a:r>
              <a:rPr lang="id-ID" dirty="0" smtClean="0"/>
              <a:t>Belajar </a:t>
            </a:r>
            <a:r>
              <a:rPr lang="id-ID" dirty="0"/>
              <a:t>dari pengalaman membuat seseorang menjadi lebih berhati-hati </a:t>
            </a:r>
            <a:r>
              <a:rPr lang="id-ID" dirty="0" smtClean="0"/>
              <a:t>dalam segala </a:t>
            </a:r>
            <a:r>
              <a:rPr lang="id-ID" dirty="0"/>
              <a:t>tindakan atau dalam mengambil keputusan.&lt;b&gt;&lt;i&gt;Hari ini saya </a:t>
            </a:r>
            <a:r>
              <a:rPr lang="id-ID" dirty="0" smtClean="0"/>
              <a:t>mempunyai pengalaman </a:t>
            </a:r>
            <a:r>
              <a:rPr lang="id-ID" dirty="0"/>
              <a:t>belajar membuat web. Belajar web tidaklah sulit yang penting </a:t>
            </a:r>
            <a:r>
              <a:rPr lang="id-ID" dirty="0" smtClean="0"/>
              <a:t>harus</a:t>
            </a:r>
            <a:r>
              <a:rPr lang="id-ID" dirty="0"/>
              <a:t>berlatih terus. &lt;b&gt;&lt;u&gt;Saya senang sekali dapat membuat halaman website</a:t>
            </a:r>
            <a:r>
              <a:rPr lang="id-ID" dirty="0" smtClean="0"/>
              <a:t>, apalagi </a:t>
            </a:r>
            <a:r>
              <a:rPr lang="id-ID" dirty="0"/>
              <a:t>dapat diupload secara online, semua orang akan membaca tulisan </a:t>
            </a:r>
            <a:r>
              <a:rPr lang="id-ID" dirty="0" smtClean="0"/>
              <a:t>saya &lt;/</a:t>
            </a:r>
            <a:r>
              <a:rPr lang="id-ID" dirty="0"/>
              <a:t>u&gt;&lt;/b&gt;&lt;br&gt;</a:t>
            </a:r>
          </a:p>
          <a:p>
            <a:pPr algn="just"/>
            <a:r>
              <a:rPr lang="da-DK" dirty="0"/>
              <a:t>&lt;center&gt;&lt;img src="image/img1.jpg"&gt;&lt;/center&gt;</a:t>
            </a:r>
          </a:p>
          <a:p>
            <a:pPr algn="just"/>
            <a:r>
              <a:rPr lang="id-ID" dirty="0"/>
              <a:t>&lt;p&gt;Website perdana yang saya buat tentang pengalaman pribadi saya </a:t>
            </a:r>
            <a:r>
              <a:rPr lang="id-ID" dirty="0" smtClean="0"/>
              <a:t>ketika belajar </a:t>
            </a:r>
            <a:r>
              <a:rPr lang="id-ID" dirty="0"/>
              <a:t>membuat tampilan yang menarik, sangat mengasyikkan sekali.</a:t>
            </a:r>
          </a:p>
          <a:p>
            <a:pPr algn="just"/>
            <a:r>
              <a:rPr lang="id-ID" dirty="0"/>
              <a:t>&lt;/BODY&gt;</a:t>
            </a:r>
          </a:p>
          <a:p>
            <a:pPr algn="just"/>
            <a:r>
              <a:rPr lang="id-ID" dirty="0"/>
              <a:t>&lt;/</a:t>
            </a:r>
            <a:r>
              <a:rPr lang="id-ID" dirty="0" smtClean="0"/>
              <a:t>HTML</a:t>
            </a:r>
            <a:r>
              <a:rPr lang="id-ID" dirty="0"/>
              <a:t>&gt;</a:t>
            </a:r>
            <a:endParaRPr lang="id-ID" dirty="0"/>
          </a:p>
        </p:txBody>
      </p:sp>
      <p:sp>
        <p:nvSpPr>
          <p:cNvPr id="4" name="Rectangle 3"/>
          <p:cNvSpPr/>
          <p:nvPr/>
        </p:nvSpPr>
        <p:spPr>
          <a:xfrm>
            <a:off x="292734" y="301559"/>
            <a:ext cx="20446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3600" b="1" dirty="0"/>
              <a:t>Latihan </a:t>
            </a:r>
            <a:r>
              <a:rPr lang="id-ID" sz="3600" b="1" dirty="0" smtClean="0"/>
              <a:t>1 </a:t>
            </a:r>
            <a:endParaRPr lang="id-ID" sz="3600" dirty="0"/>
          </a:p>
        </p:txBody>
      </p:sp>
      <p:sp>
        <p:nvSpPr>
          <p:cNvPr id="5" name="Rectangle 4"/>
          <p:cNvSpPr/>
          <p:nvPr/>
        </p:nvSpPr>
        <p:spPr>
          <a:xfrm>
            <a:off x="4207149" y="3244334"/>
            <a:ext cx="37777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n-NO" b="1" dirty="0"/>
              <a:t>Simpan file dengan  nama profil.html </a:t>
            </a:r>
            <a:endParaRPr lang="id-ID" dirty="0"/>
          </a:p>
        </p:txBody>
      </p:sp>
      <p:sp>
        <p:nvSpPr>
          <p:cNvPr id="6" name="Rectangle 5"/>
          <p:cNvSpPr/>
          <p:nvPr/>
        </p:nvSpPr>
        <p:spPr>
          <a:xfrm>
            <a:off x="1015999" y="5808113"/>
            <a:ext cx="37777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n-NO" dirty="0"/>
              <a:t>Simpan file dengan </a:t>
            </a:r>
            <a:r>
              <a:rPr lang="nn-NO" dirty="0" smtClean="0"/>
              <a:t>nama </a:t>
            </a:r>
            <a:r>
              <a:rPr lang="nn-NO" b="1" dirty="0"/>
              <a:t>profil.html 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817888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72457" y="1102146"/>
            <a:ext cx="7634514" cy="3416320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 wrap="square">
            <a:spAutoFit/>
          </a:bodyPr>
          <a:lstStyle/>
          <a:p>
            <a:r>
              <a:rPr lang="id-ID" dirty="0"/>
              <a:t>&lt;!DOCTYPE HTML PUBLIC "-//W3C//DTD HTML 4.0 Transitional//EN"&gt; </a:t>
            </a:r>
          </a:p>
          <a:p>
            <a:r>
              <a:rPr lang="id-ID" dirty="0"/>
              <a:t>&lt;HTML&gt; </a:t>
            </a:r>
          </a:p>
          <a:p>
            <a:r>
              <a:rPr lang="id-ID" dirty="0"/>
              <a:t>&lt;HEAD&gt; </a:t>
            </a:r>
          </a:p>
          <a:p>
            <a:r>
              <a:rPr lang="en-US" dirty="0"/>
              <a:t>&lt;TITLE&gt; </a:t>
            </a:r>
            <a:r>
              <a:rPr lang="en-US" dirty="0" err="1"/>
              <a:t>Halaman</a:t>
            </a:r>
            <a:r>
              <a:rPr lang="en-US" dirty="0"/>
              <a:t> </a:t>
            </a:r>
            <a:r>
              <a:rPr lang="en-US" dirty="0" err="1"/>
              <a:t>Galery</a:t>
            </a:r>
            <a:r>
              <a:rPr lang="en-US" dirty="0"/>
              <a:t> &lt;/TITLE&gt;&lt;/head&gt; </a:t>
            </a:r>
          </a:p>
          <a:p>
            <a:r>
              <a:rPr lang="id-ID" dirty="0"/>
              <a:t>&lt;body&gt; </a:t>
            </a:r>
          </a:p>
          <a:p>
            <a:r>
              <a:rPr lang="id-ID" dirty="0"/>
              <a:t>&lt;pre&gt; </a:t>
            </a:r>
          </a:p>
          <a:p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="image/me1.jpg" width=250 height=200&gt; 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="image/me2.jpg"</a:t>
            </a:r>
          </a:p>
          <a:p>
            <a:r>
              <a:rPr lang="en-US" dirty="0"/>
              <a:t>width=250 height=200&gt; 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="image/me3.gif" width=170 height=200&gt; </a:t>
            </a:r>
          </a:p>
          <a:p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="image/perform6.gif" width=170 height=200&gt; </a:t>
            </a:r>
          </a:p>
          <a:p>
            <a:r>
              <a:rPr lang="id-ID" dirty="0"/>
              <a:t>&lt;/pre&gt; </a:t>
            </a:r>
          </a:p>
          <a:p>
            <a:r>
              <a:rPr lang="id-ID" dirty="0"/>
              <a:t>&lt;/BODY&gt; </a:t>
            </a:r>
          </a:p>
          <a:p>
            <a:r>
              <a:rPr lang="id-ID" dirty="0"/>
              <a:t>&lt;/HTML&gt; </a:t>
            </a:r>
            <a:endParaRPr lang="id-ID" dirty="0"/>
          </a:p>
        </p:txBody>
      </p:sp>
      <p:sp>
        <p:nvSpPr>
          <p:cNvPr id="4" name="Rectangle 3"/>
          <p:cNvSpPr/>
          <p:nvPr/>
        </p:nvSpPr>
        <p:spPr>
          <a:xfrm>
            <a:off x="292734" y="301559"/>
            <a:ext cx="20446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3600" b="1" dirty="0"/>
              <a:t>Latihan </a:t>
            </a:r>
            <a:r>
              <a:rPr lang="id-ID" sz="3600" b="1" dirty="0" smtClean="0"/>
              <a:t>1 </a:t>
            </a:r>
            <a:endParaRPr lang="id-ID" sz="3600" dirty="0"/>
          </a:p>
        </p:txBody>
      </p:sp>
      <p:sp>
        <p:nvSpPr>
          <p:cNvPr id="5" name="Rectangle 4"/>
          <p:cNvSpPr/>
          <p:nvPr/>
        </p:nvSpPr>
        <p:spPr>
          <a:xfrm>
            <a:off x="972457" y="5203763"/>
            <a:ext cx="34268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/>
              <a:t>Simpan dengan nama </a:t>
            </a:r>
            <a:r>
              <a:rPr lang="id-ID" b="1" dirty="0"/>
              <a:t>galery.html 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938705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91770" y="1305341"/>
            <a:ext cx="7126515" cy="4247317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 wrap="square">
            <a:spAutoFit/>
          </a:bodyPr>
          <a:lstStyle/>
          <a:p>
            <a:r>
              <a:rPr lang="id-ID" dirty="0"/>
              <a:t>&lt;HTML&gt; </a:t>
            </a:r>
          </a:p>
          <a:p>
            <a:r>
              <a:rPr lang="id-ID" dirty="0"/>
              <a:t>&lt;HEAD&gt; </a:t>
            </a:r>
          </a:p>
          <a:p>
            <a:r>
              <a:rPr lang="id-ID" dirty="0"/>
              <a:t>&lt;TITLE&gt; Halaman Galery &lt;/TITLE&gt; </a:t>
            </a:r>
          </a:p>
          <a:p>
            <a:r>
              <a:rPr lang="id-ID" dirty="0"/>
              <a:t>&lt;/HEAD&gt; </a:t>
            </a:r>
          </a:p>
          <a:p>
            <a:r>
              <a:rPr lang="id-ID" dirty="0"/>
              <a:t>&lt;BODY&gt; </a:t>
            </a:r>
          </a:p>
          <a:p>
            <a:r>
              <a:rPr lang="id-ID" dirty="0"/>
              <a:t>&lt;pre&gt; </a:t>
            </a:r>
          </a:p>
          <a:p>
            <a:r>
              <a:rPr lang="id-ID" dirty="0"/>
              <a:t>&lt;font color="purple" size=5&gt; </a:t>
            </a:r>
          </a:p>
          <a:p>
            <a:r>
              <a:rPr lang="id-ID" dirty="0"/>
              <a:t>  Universitas Pamulang </a:t>
            </a:r>
          </a:p>
          <a:p>
            <a:r>
              <a:rPr lang="nn-NO" dirty="0"/>
              <a:t>  Jl. Surya Kencana No.1 Pamulang-Tangerang Selatan</a:t>
            </a:r>
          </a:p>
          <a:p>
            <a:r>
              <a:rPr lang="id-ID" dirty="0"/>
              <a:t>  Website : www.unpam.ac.id </a:t>
            </a:r>
          </a:p>
          <a:p>
            <a:r>
              <a:rPr lang="id-ID" dirty="0"/>
              <a:t>  Email  : info@unpam.ac.id </a:t>
            </a:r>
          </a:p>
          <a:p>
            <a:r>
              <a:rPr lang="id-ID" dirty="0"/>
              <a:t>  Telp  : 021 - 7412566 </a:t>
            </a:r>
          </a:p>
          <a:p>
            <a:r>
              <a:rPr lang="fr-FR" dirty="0"/>
              <a:t>  Fax  : 021 - 7412566&lt;/font&gt;&lt;/</a:t>
            </a:r>
            <a:r>
              <a:rPr lang="fr-FR" dirty="0" err="1"/>
              <a:t>pre</a:t>
            </a:r>
            <a:r>
              <a:rPr lang="fr-FR" dirty="0"/>
              <a:t>&gt; </a:t>
            </a:r>
          </a:p>
          <a:p>
            <a:r>
              <a:rPr lang="id-ID" dirty="0"/>
              <a:t>&lt;/BODY&gt; </a:t>
            </a:r>
          </a:p>
          <a:p>
            <a:r>
              <a:rPr lang="id-ID" dirty="0"/>
              <a:t>&lt;/HTML&gt; </a:t>
            </a:r>
            <a:endParaRPr lang="id-ID" dirty="0"/>
          </a:p>
        </p:txBody>
      </p:sp>
      <p:sp>
        <p:nvSpPr>
          <p:cNvPr id="4" name="Rectangle 3"/>
          <p:cNvSpPr/>
          <p:nvPr/>
        </p:nvSpPr>
        <p:spPr>
          <a:xfrm>
            <a:off x="292734" y="301559"/>
            <a:ext cx="20446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3600" b="1" dirty="0"/>
              <a:t>Latihan </a:t>
            </a:r>
            <a:r>
              <a:rPr lang="id-ID" sz="3600" b="1" dirty="0" smtClean="0"/>
              <a:t>1 </a:t>
            </a:r>
            <a:endParaRPr lang="id-ID" sz="3600" dirty="0"/>
          </a:p>
        </p:txBody>
      </p:sp>
      <p:sp>
        <p:nvSpPr>
          <p:cNvPr id="5" name="Rectangle 4"/>
          <p:cNvSpPr/>
          <p:nvPr/>
        </p:nvSpPr>
        <p:spPr>
          <a:xfrm>
            <a:off x="1315065" y="5595810"/>
            <a:ext cx="34743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/>
              <a:t>Simpan dengan nama </a:t>
            </a:r>
            <a:r>
              <a:rPr lang="id-ID" b="1" dirty="0" smtClean="0"/>
              <a:t>kontak.html 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624530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2507" y="1029607"/>
            <a:ext cx="7154636" cy="5088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292734" y="301559"/>
            <a:ext cx="42714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3600" b="1" dirty="0" smtClean="0"/>
              <a:t>HASIL Halaman Index</a:t>
            </a:r>
            <a:endParaRPr lang="id-ID" sz="3600" dirty="0"/>
          </a:p>
        </p:txBody>
      </p:sp>
    </p:spTree>
    <p:extLst>
      <p:ext uri="{BB962C8B-B14F-4D97-AF65-F5344CB8AC3E}">
        <p14:creationId xmlns:p14="http://schemas.microsoft.com/office/powerpoint/2010/main" val="1007154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102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07D5B0-CAF7-45A2-B0D1-E8315A4FC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6666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8BBBC7-7D6D-4A56-8061-F6B2DFE2A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135" y="765818"/>
            <a:ext cx="10515600" cy="1325563"/>
          </a:xfr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98398991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3104</TotalTime>
  <Words>1070</Words>
  <Application>Microsoft Office PowerPoint</Application>
  <PresentationFormat>Custom</PresentationFormat>
  <Paragraphs>160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8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6_Office Theme</vt:lpstr>
      <vt:lpstr>7_Office Theme</vt:lpstr>
      <vt:lpstr>4_Office Theme</vt:lpstr>
      <vt:lpstr>3_Office Theme</vt:lpstr>
      <vt:lpstr>2_Office Theme</vt:lpstr>
      <vt:lpstr>Office Theme</vt:lpstr>
      <vt:lpstr>5_Office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lisda masitoh</dc:creator>
  <cp:lastModifiedBy>san</cp:lastModifiedBy>
  <cp:revision>29</cp:revision>
  <dcterms:created xsi:type="dcterms:W3CDTF">2021-08-16T10:58:02Z</dcterms:created>
  <dcterms:modified xsi:type="dcterms:W3CDTF">2021-08-30T01:20:02Z</dcterms:modified>
</cp:coreProperties>
</file>